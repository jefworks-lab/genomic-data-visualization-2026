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98" r:id="rId2"/>
    <p:sldId id="356" r:id="rId3"/>
    <p:sldId id="353" r:id="rId4"/>
    <p:sldId id="360" r:id="rId5"/>
    <p:sldId id="361" r:id="rId6"/>
    <p:sldId id="362" r:id="rId7"/>
    <p:sldId id="355" r:id="rId8"/>
    <p:sldId id="750" r:id="rId9"/>
    <p:sldId id="328" r:id="rId10"/>
    <p:sldId id="358" r:id="rId11"/>
    <p:sldId id="359" r:id="rId12"/>
    <p:sldId id="363" r:id="rId13"/>
    <p:sldId id="364" r:id="rId14"/>
    <p:sldId id="365" r:id="rId15"/>
    <p:sldId id="366" r:id="rId16"/>
    <p:sldId id="367" r:id="rId17"/>
    <p:sldId id="751" r:id="rId18"/>
    <p:sldId id="747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1348"/>
    <p:restoredTop sz="96327"/>
  </p:normalViewPr>
  <p:slideViewPr>
    <p:cSldViewPr snapToGrid="0">
      <p:cViewPr varScale="1">
        <p:scale>
          <a:sx n="109" d="100"/>
          <a:sy n="109" d="100"/>
        </p:scale>
        <p:origin x="216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C6A539-A468-CE4A-854E-292D0F60238D}" type="datetimeFigureOut">
              <a:rPr lang="en-US" smtClean="0"/>
              <a:t>1/29/26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2B7F40-78AF-7049-997F-1DF1D9921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031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F64489-9831-C643-AA24-FB0F96CDD82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594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01BB7-29B2-E6B9-B678-934E37C2ED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547639-A096-D410-D90C-945147D74A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A420D6-B5EE-05D8-18A6-4379BE16B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FC92B-4D29-114F-9428-921D03F740D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E3CD2C-192D-877E-BF97-70AAB79DC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F91796-D253-39D8-7BF9-307A85B8C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A6CE6-9324-BE44-B690-BDC806875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460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1AEBE-54EC-9097-07D9-CF8424205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5EEDD6-735A-6696-8357-296EC1677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92CBB1-E8C3-47D6-EC73-F400EDD84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FC92B-4D29-114F-9428-921D03F740D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6C1179-24C1-CE0B-CB87-0AB915937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E8B11A-2FC8-2343-1DA8-7A7460092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A6CE6-9324-BE44-B690-BDC806875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40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10133-AF86-32C5-D26D-9BCB2C419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5FCC04-051E-8926-55A4-D411910C3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649711-A572-97A2-C3B0-B3A61CD73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FC92B-4D29-114F-9428-921D03F740D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8271EA-0B2A-3D55-B48F-389F3EA08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484298-F6EA-FD73-C630-1DFEBEF1B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A6CE6-9324-BE44-B690-BDC806875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31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38114-8F31-9FF8-1FCC-C97776E70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F55BA-114B-3234-A40D-7462044C5B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A5A386-E21D-B02E-EE4B-DF7D086865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3CC1C9-8633-9F28-6321-683080636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FC92B-4D29-114F-9428-921D03F740D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31ECD4-1981-945D-F7B9-FC4BA55FB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E19E3A-CE1C-3B05-2838-AE6E39BEC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A6CE6-9324-BE44-B690-BDC806875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459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8C225-7F37-B29A-7173-8172CB2EA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4137F4-B1F6-EA6E-F422-B4C3CDEC85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EC6171-A986-4E5C-E215-123E8B40A4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D16660-5E4A-6BAE-64C7-B759B07D52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74461D-6397-E5B2-ECA5-DCFB0EE74A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593715-B7B5-2A99-19E2-83257BF5F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FC92B-4D29-114F-9428-921D03F740D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42160A-154C-755B-D76A-7C7A220CC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ED1DBC-EDE3-B4D4-6051-7F04BDD23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A6CE6-9324-BE44-B690-BDC806875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554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A534C-3C37-ABC6-FC83-2EA01F2E4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DC8A3E-7B08-9E57-F85D-7437AF22C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FC92B-4D29-114F-9428-921D03F740D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DD247F-F8C6-0D01-1F07-407B9E43A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E031FE-3943-FFBD-DF32-0CD2CEB7A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A6CE6-9324-BE44-B690-BDC806875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945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02753D-8A5B-03F3-C2CC-ABA8458A5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FC92B-4D29-114F-9428-921D03F740D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FD4547-9A13-F461-BC30-138BC220E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C9C298-CC85-5936-5723-431CC78A5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A6CE6-9324-BE44-B690-BDC806875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132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F7CD2-5A6D-E702-5161-F6071E9BF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65DEE4-A149-9D91-030B-88E8C1DF6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393108-6CE0-41E0-D612-AA13B0FA8D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B8075C-5C33-066A-1718-56B4412FE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FC92B-4D29-114F-9428-921D03F740D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83E172-0C01-7F1C-55FF-E486F564F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29CC36-90B5-6DF0-CDBB-EEB3857CA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A6CE6-9324-BE44-B690-BDC806875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475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65D23-A635-D699-39C2-FBD5BF7B7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DB9654-E587-4E2E-5376-1DEC22DDCF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D9B9A4-5990-E4FF-F999-8C45F1370F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6246CD-CDFF-6ACA-DFEB-5B7FEC025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FC92B-4D29-114F-9428-921D03F740D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9720DA-5D65-23B5-E847-79BAE0820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279EB-30E7-5184-BE3B-E67B7EA05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A6CE6-9324-BE44-B690-BDC806875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35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80A79-9AE3-D346-E8D6-6A538F8A1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95AC37-1249-6891-5EB3-19A548DB9D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22562C-69D7-28B6-1453-03D12E2BB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FC92B-4D29-114F-9428-921D03F740D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249B5B-D8CE-AE0A-884E-7D07DDE6B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612DBB-BAB2-04F0-BC84-BB1147F9A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A6CE6-9324-BE44-B690-BDC806875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475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83356F-DC9A-D946-E45F-C7552A9A46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954D71-27F6-B529-7ED6-6A356C09A0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FC259E-9DBD-B359-41B4-0B5974BA6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FC92B-4D29-114F-9428-921D03F740D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F3C4ED-EB64-07FC-12EA-A25CD11F7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1672E-2CEC-9878-BA5C-AED258293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A6CE6-9324-BE44-B690-BDC806875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963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863367-E9FE-B3C1-3061-8E65BB8BD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180849-E604-9F8C-3146-A65470E73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656814-B313-44ED-F811-7DE2122AFB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CFC92B-4D29-114F-9428-921D03F740D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A842B3-22F5-4E21-DB6B-0E3DE580C6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C203EB-0AA7-8F28-5F6C-BB5C8A2B22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3A6CE6-9324-BE44-B690-BDC806875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989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BD3AC-550C-F448-AA0E-9671A0B2B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2729" y="1289303"/>
            <a:ext cx="9638443" cy="3339303"/>
          </a:xfrm>
          <a:ln>
            <a:noFill/>
          </a:ln>
        </p:spPr>
        <p:txBody>
          <a:bodyPr vert="horz" lIns="274320" tIns="182880" rIns="274320" bIns="182880" rtlCol="0" anchor="ctr" anchorCtr="1">
            <a:normAutofit fontScale="90000"/>
          </a:bodyPr>
          <a:lstStyle/>
          <a:p>
            <a:r>
              <a:rPr lang="en-US" sz="5400" b="0" i="0" dirty="0">
                <a:solidFill>
                  <a:srgbClr val="202124"/>
                </a:solidFill>
                <a:effectLst/>
                <a:latin typeface="docs-Roboto"/>
              </a:rPr>
              <a:t>EN.580.428 </a:t>
            </a:r>
            <a:br>
              <a:rPr lang="en-US" sz="5400" b="0" i="0" dirty="0">
                <a:solidFill>
                  <a:srgbClr val="202124"/>
                </a:solidFill>
                <a:effectLst/>
                <a:latin typeface="docs-Roboto"/>
              </a:rPr>
            </a:br>
            <a:r>
              <a:rPr lang="en-US" sz="5400" b="0" i="0" dirty="0">
                <a:solidFill>
                  <a:srgbClr val="202124"/>
                </a:solidFill>
                <a:effectLst/>
                <a:latin typeface="docs-Roboto"/>
              </a:rPr>
              <a:t>Genomic Data Visualization</a:t>
            </a:r>
            <a:br>
              <a:rPr lang="en-US" sz="5400" b="0" i="0" dirty="0">
                <a:solidFill>
                  <a:srgbClr val="202124"/>
                </a:solidFill>
                <a:effectLst/>
                <a:latin typeface="docs-Roboto"/>
              </a:rPr>
            </a:br>
            <a:r>
              <a:rPr lang="en-US" sz="5400" b="0" i="0" dirty="0">
                <a:solidFill>
                  <a:srgbClr val="202124"/>
                </a:solidFill>
                <a:effectLst/>
                <a:latin typeface="docs-Roboto"/>
              </a:rPr>
              <a:t>Lesson 4</a:t>
            </a:r>
            <a:br>
              <a:rPr lang="en-US" sz="5400" b="0" i="0" dirty="0">
                <a:solidFill>
                  <a:srgbClr val="202124"/>
                </a:solidFill>
                <a:effectLst/>
                <a:latin typeface="docs-Roboto"/>
              </a:rPr>
            </a:br>
            <a:br>
              <a:rPr lang="en-US" sz="5000" dirty="0"/>
            </a:br>
            <a:r>
              <a:rPr lang="en-US" sz="5000" dirty="0"/>
              <a:t>Non-linear Dimensionality Reduction: </a:t>
            </a:r>
            <a:br>
              <a:rPr lang="en-US" sz="5000" dirty="0"/>
            </a:br>
            <a:r>
              <a:rPr lang="en-US" sz="5000" dirty="0"/>
              <a:t>T-distributed Stochastic Neighbor Embedding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C2EFB6-6688-534D-88FE-6CB4D53452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729" y="5499895"/>
            <a:ext cx="9638443" cy="484633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Prof. Jean Fan</a:t>
            </a:r>
          </a:p>
        </p:txBody>
      </p:sp>
    </p:spTree>
    <p:extLst>
      <p:ext uri="{BB962C8B-B14F-4D97-AF65-F5344CB8AC3E}">
        <p14:creationId xmlns:p14="http://schemas.microsoft.com/office/powerpoint/2010/main" val="555411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33444-18F2-CC84-10F9-8CCA060A7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BF44B-C0CF-046A-0CEA-78ACE2588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Remotivating Dimensionality Reduction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7F55BE8-F406-94D4-2A7B-1185DF601EBF}"/>
              </a:ext>
            </a:extLst>
          </p:cNvPr>
          <p:cNvGrpSpPr/>
          <p:nvPr/>
        </p:nvGrpSpPr>
        <p:grpSpPr>
          <a:xfrm>
            <a:off x="1037501" y="2017642"/>
            <a:ext cx="3824072" cy="4164497"/>
            <a:chOff x="4288735" y="2222126"/>
            <a:chExt cx="3614531" cy="3936302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D12B06C-EB3D-66AF-06D5-C1A4E4BEC245}"/>
                </a:ext>
              </a:extLst>
            </p:cNvPr>
            <p:cNvCxnSpPr/>
            <p:nvPr/>
          </p:nvCxnSpPr>
          <p:spPr>
            <a:xfrm>
              <a:off x="4288735" y="2282825"/>
              <a:ext cx="0" cy="3588026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1C85242-0AE9-D952-4CCA-0BF40670E49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88735" y="5870851"/>
              <a:ext cx="3614531" cy="0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FE7DD59-74C6-8932-A8EA-535C4BB790C7}"/>
                </a:ext>
              </a:extLst>
            </p:cNvPr>
            <p:cNvSpPr txBox="1"/>
            <p:nvPr/>
          </p:nvSpPr>
          <p:spPr>
            <a:xfrm>
              <a:off x="7076776" y="5849830"/>
              <a:ext cx="762066" cy="3085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Gene A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F7C45B8-2DE7-7F93-7D95-8E724DF6C8DB}"/>
                </a:ext>
              </a:extLst>
            </p:cNvPr>
            <p:cNvSpPr txBox="1"/>
            <p:nvPr/>
          </p:nvSpPr>
          <p:spPr>
            <a:xfrm rot="16200000">
              <a:off x="4090762" y="2450467"/>
              <a:ext cx="765280" cy="3085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Gene B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85D39785-6243-8381-01AD-F348C97CC09F}"/>
                </a:ext>
              </a:extLst>
            </p:cNvPr>
            <p:cNvSpPr/>
            <p:nvPr/>
          </p:nvSpPr>
          <p:spPr>
            <a:xfrm>
              <a:off x="6878011" y="2610029"/>
              <a:ext cx="331303" cy="331303"/>
            </a:xfrm>
            <a:prstGeom prst="ellipse">
              <a:avLst/>
            </a:prstGeom>
            <a:solidFill>
              <a:srgbClr val="FF000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C5959F12-CA1C-604A-E997-B7EE187A5E40}"/>
                </a:ext>
              </a:extLst>
            </p:cNvPr>
            <p:cNvSpPr/>
            <p:nvPr/>
          </p:nvSpPr>
          <p:spPr>
            <a:xfrm>
              <a:off x="6884622" y="3027589"/>
              <a:ext cx="331303" cy="331303"/>
            </a:xfrm>
            <a:prstGeom prst="ellipse">
              <a:avLst/>
            </a:prstGeom>
            <a:solidFill>
              <a:srgbClr val="FF000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84B0A78A-E327-9E02-35D9-8800B56965A6}"/>
                </a:ext>
              </a:extLst>
            </p:cNvPr>
            <p:cNvSpPr/>
            <p:nvPr/>
          </p:nvSpPr>
          <p:spPr>
            <a:xfrm>
              <a:off x="6573165" y="3550791"/>
              <a:ext cx="331303" cy="331303"/>
            </a:xfrm>
            <a:prstGeom prst="ellipse">
              <a:avLst/>
            </a:prstGeom>
            <a:solidFill>
              <a:srgbClr val="FF000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8446FB79-C7FC-17C9-1957-CE6118599DA9}"/>
                </a:ext>
              </a:extLst>
            </p:cNvPr>
            <p:cNvSpPr/>
            <p:nvPr/>
          </p:nvSpPr>
          <p:spPr>
            <a:xfrm>
              <a:off x="7361730" y="2943924"/>
              <a:ext cx="331303" cy="331303"/>
            </a:xfrm>
            <a:prstGeom prst="ellipse">
              <a:avLst/>
            </a:prstGeom>
            <a:solidFill>
              <a:srgbClr val="FF000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76AA3F00-A005-EBD9-0137-F3026CF3B2DC}"/>
                </a:ext>
              </a:extLst>
            </p:cNvPr>
            <p:cNvSpPr/>
            <p:nvPr/>
          </p:nvSpPr>
          <p:spPr>
            <a:xfrm>
              <a:off x="6407514" y="3139558"/>
              <a:ext cx="331303" cy="331303"/>
            </a:xfrm>
            <a:prstGeom prst="ellipse">
              <a:avLst/>
            </a:prstGeom>
            <a:solidFill>
              <a:srgbClr val="FF000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8154FCA-1CD1-5316-EC9D-F0CC54931212}"/>
                </a:ext>
              </a:extLst>
            </p:cNvPr>
            <p:cNvSpPr/>
            <p:nvPr/>
          </p:nvSpPr>
          <p:spPr>
            <a:xfrm>
              <a:off x="4886797" y="5358399"/>
              <a:ext cx="331303" cy="331303"/>
            </a:xfrm>
            <a:prstGeom prst="ellipse">
              <a:avLst/>
            </a:prstGeom>
            <a:solidFill>
              <a:srgbClr val="0070C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E1E0B849-A099-5FB1-2B9F-B19582D1151F}"/>
                </a:ext>
              </a:extLst>
            </p:cNvPr>
            <p:cNvSpPr/>
            <p:nvPr/>
          </p:nvSpPr>
          <p:spPr>
            <a:xfrm>
              <a:off x="4981096" y="4889227"/>
              <a:ext cx="331303" cy="331303"/>
            </a:xfrm>
            <a:prstGeom prst="ellipse">
              <a:avLst/>
            </a:prstGeom>
            <a:solidFill>
              <a:srgbClr val="0070C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C46D7F64-759C-993F-B54A-F4A29F70A418}"/>
                </a:ext>
              </a:extLst>
            </p:cNvPr>
            <p:cNvSpPr/>
            <p:nvPr/>
          </p:nvSpPr>
          <p:spPr>
            <a:xfrm>
              <a:off x="5479743" y="4889226"/>
              <a:ext cx="331303" cy="331303"/>
            </a:xfrm>
            <a:prstGeom prst="ellipse">
              <a:avLst/>
            </a:prstGeom>
            <a:solidFill>
              <a:srgbClr val="0070C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F6082087-27F3-9D98-76F0-E9D74ABFE654}"/>
                </a:ext>
              </a:extLst>
            </p:cNvPr>
            <p:cNvSpPr/>
            <p:nvPr/>
          </p:nvSpPr>
          <p:spPr>
            <a:xfrm>
              <a:off x="4521407" y="5096030"/>
              <a:ext cx="331303" cy="331303"/>
            </a:xfrm>
            <a:prstGeom prst="ellipse">
              <a:avLst/>
            </a:prstGeom>
            <a:solidFill>
              <a:srgbClr val="0070C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78E5B682-7E8C-C549-30FC-5168644C31F2}"/>
                </a:ext>
              </a:extLst>
            </p:cNvPr>
            <p:cNvSpPr/>
            <p:nvPr/>
          </p:nvSpPr>
          <p:spPr>
            <a:xfrm>
              <a:off x="5051082" y="4420055"/>
              <a:ext cx="331303" cy="331303"/>
            </a:xfrm>
            <a:prstGeom prst="ellipse">
              <a:avLst/>
            </a:prstGeom>
            <a:solidFill>
              <a:srgbClr val="0070C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3" name="Oval 32">
            <a:extLst>
              <a:ext uri="{FF2B5EF4-FFF2-40B4-BE49-F238E27FC236}">
                <a16:creationId xmlns:a16="http://schemas.microsoft.com/office/drawing/2014/main" id="{E9EE0E76-787B-1D46-280C-6D7F3D49B110}"/>
              </a:ext>
            </a:extLst>
          </p:cNvPr>
          <p:cNvSpPr/>
          <p:nvPr/>
        </p:nvSpPr>
        <p:spPr>
          <a:xfrm>
            <a:off x="1844666" y="2690026"/>
            <a:ext cx="350509" cy="350509"/>
          </a:xfrm>
          <a:prstGeom prst="ellipse">
            <a:avLst/>
          </a:prstGeom>
          <a:solidFill>
            <a:srgbClr val="7030A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1CF8EF87-291E-9D94-F848-2228DAA9477A}"/>
              </a:ext>
            </a:extLst>
          </p:cNvPr>
          <p:cNvSpPr/>
          <p:nvPr/>
        </p:nvSpPr>
        <p:spPr>
          <a:xfrm>
            <a:off x="1851660" y="3131793"/>
            <a:ext cx="350509" cy="350509"/>
          </a:xfrm>
          <a:prstGeom prst="ellipse">
            <a:avLst/>
          </a:prstGeom>
          <a:solidFill>
            <a:srgbClr val="7030A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B6E9090-AFB2-9918-5911-1803D6A86D0F}"/>
              </a:ext>
            </a:extLst>
          </p:cNvPr>
          <p:cNvSpPr/>
          <p:nvPr/>
        </p:nvSpPr>
        <p:spPr>
          <a:xfrm>
            <a:off x="1491762" y="3024711"/>
            <a:ext cx="350509" cy="350509"/>
          </a:xfrm>
          <a:prstGeom prst="ellipse">
            <a:avLst/>
          </a:prstGeom>
          <a:solidFill>
            <a:srgbClr val="7030A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9848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C8223-A1D6-7969-CD70-3C43861FD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PCA review</a:t>
            </a:r>
          </a:p>
        </p:txBody>
      </p:sp>
      <p:pic>
        <p:nvPicPr>
          <p:cNvPr id="2050" name="Picture 2" descr="A practical guide for getting the most out of Principal Component Analysis.  | Towards Data Science">
            <a:extLst>
              <a:ext uri="{FF2B5EF4-FFF2-40B4-BE49-F238E27FC236}">
                <a16:creationId xmlns:a16="http://schemas.microsoft.com/office/drawing/2014/main" id="{BB4712F3-04A8-E47C-69A6-8E98EBB293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275"/>
          <a:stretch/>
        </p:blipFill>
        <p:spPr bwMode="auto">
          <a:xfrm>
            <a:off x="451644" y="0"/>
            <a:ext cx="11288712" cy="6582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3496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C9F80-0AB0-96C9-B203-D32EC4208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33BC6-618A-6287-5423-BAF1CEAC8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PCA review</a:t>
            </a:r>
          </a:p>
        </p:txBody>
      </p:sp>
      <p:pic>
        <p:nvPicPr>
          <p:cNvPr id="2050" name="Picture 2" descr="A practical guide for getting the most out of Principal Component Analysis.  | Towards Data Science">
            <a:extLst>
              <a:ext uri="{FF2B5EF4-FFF2-40B4-BE49-F238E27FC236}">
                <a16:creationId xmlns:a16="http://schemas.microsoft.com/office/drawing/2014/main" id="{8F82D801-CB0E-E595-B60D-1CA1CF5C4F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889" b="51164"/>
          <a:stretch/>
        </p:blipFill>
        <p:spPr bwMode="auto">
          <a:xfrm>
            <a:off x="461583" y="39756"/>
            <a:ext cx="11288712" cy="6582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8466B19-8B7E-6094-189B-84C7ECB9158E}"/>
              </a:ext>
            </a:extLst>
          </p:cNvPr>
          <p:cNvSpPr/>
          <p:nvPr/>
        </p:nvSpPr>
        <p:spPr>
          <a:xfrm>
            <a:off x="6740434" y="3605350"/>
            <a:ext cx="2312126" cy="5878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F9ADD0-B085-40E0-3093-31D52054B770}"/>
              </a:ext>
            </a:extLst>
          </p:cNvPr>
          <p:cNvSpPr/>
          <p:nvPr/>
        </p:nvSpPr>
        <p:spPr>
          <a:xfrm>
            <a:off x="9052559" y="2664822"/>
            <a:ext cx="2429691" cy="13255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C88A0F-6DE2-E2DA-0C3C-1825810F6D00}"/>
              </a:ext>
            </a:extLst>
          </p:cNvPr>
          <p:cNvSpPr/>
          <p:nvPr/>
        </p:nvSpPr>
        <p:spPr>
          <a:xfrm>
            <a:off x="7624354" y="4435154"/>
            <a:ext cx="1872343" cy="4957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6A7AAB-9224-9DDD-3393-BB3E1DD3F6D0}"/>
              </a:ext>
            </a:extLst>
          </p:cNvPr>
          <p:cNvSpPr/>
          <p:nvPr/>
        </p:nvSpPr>
        <p:spPr>
          <a:xfrm rot="1294735">
            <a:off x="5737310" y="5050297"/>
            <a:ext cx="1895329" cy="3051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BD08D8-2671-E27F-D9B1-A6D510F03C25}"/>
              </a:ext>
            </a:extLst>
          </p:cNvPr>
          <p:cNvSpPr/>
          <p:nvPr/>
        </p:nvSpPr>
        <p:spPr>
          <a:xfrm>
            <a:off x="936171" y="5071010"/>
            <a:ext cx="3962400" cy="12122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F6FE778-F4E4-3EEC-9A4F-86B98F43E385}"/>
              </a:ext>
            </a:extLst>
          </p:cNvPr>
          <p:cNvSpPr/>
          <p:nvPr/>
        </p:nvSpPr>
        <p:spPr>
          <a:xfrm>
            <a:off x="709750" y="1392505"/>
            <a:ext cx="2960913" cy="16772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1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60BFD-1FBE-E177-93C3-77A8D860B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5AE90-03D1-3107-688B-ECD325C0C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PCA review</a:t>
            </a:r>
          </a:p>
        </p:txBody>
      </p:sp>
      <p:pic>
        <p:nvPicPr>
          <p:cNvPr id="2050" name="Picture 2" descr="A practical guide for getting the most out of Principal Component Analysis.  | Towards Data Science">
            <a:extLst>
              <a:ext uri="{FF2B5EF4-FFF2-40B4-BE49-F238E27FC236}">
                <a16:creationId xmlns:a16="http://schemas.microsoft.com/office/drawing/2014/main" id="{50188D45-F767-89A0-E7C3-D88187A1F0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889" b="51164"/>
          <a:stretch/>
        </p:blipFill>
        <p:spPr bwMode="auto">
          <a:xfrm>
            <a:off x="461583" y="39756"/>
            <a:ext cx="11288712" cy="6582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0E69B95-26E1-D064-D222-65946D2054E8}"/>
              </a:ext>
            </a:extLst>
          </p:cNvPr>
          <p:cNvSpPr/>
          <p:nvPr/>
        </p:nvSpPr>
        <p:spPr>
          <a:xfrm>
            <a:off x="6740434" y="3605350"/>
            <a:ext cx="2312126" cy="5878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91E3CA-DECC-49EB-B461-8D6A028919CD}"/>
              </a:ext>
            </a:extLst>
          </p:cNvPr>
          <p:cNvSpPr/>
          <p:nvPr/>
        </p:nvSpPr>
        <p:spPr>
          <a:xfrm>
            <a:off x="9052559" y="2664822"/>
            <a:ext cx="2429691" cy="13255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B534E4-75C9-F32B-A6BA-FB5986E2CA99}"/>
              </a:ext>
            </a:extLst>
          </p:cNvPr>
          <p:cNvSpPr/>
          <p:nvPr/>
        </p:nvSpPr>
        <p:spPr>
          <a:xfrm>
            <a:off x="7624354" y="4435154"/>
            <a:ext cx="1872343" cy="4957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8BC9A5-9571-4A2A-B562-9428CCF42A3A}"/>
              </a:ext>
            </a:extLst>
          </p:cNvPr>
          <p:cNvSpPr/>
          <p:nvPr/>
        </p:nvSpPr>
        <p:spPr>
          <a:xfrm>
            <a:off x="709750" y="1392505"/>
            <a:ext cx="2960913" cy="16772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82B33D9-3211-A818-2EFB-B0C10D7113AA}"/>
              </a:ext>
            </a:extLst>
          </p:cNvPr>
          <p:cNvSpPr/>
          <p:nvPr/>
        </p:nvSpPr>
        <p:spPr>
          <a:xfrm rot="1294735">
            <a:off x="5737310" y="5050297"/>
            <a:ext cx="1895329" cy="3051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964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EE495-B452-BC90-7A6F-851FDA123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B4D97-877A-F068-5126-7442D2CF1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PCA review</a:t>
            </a:r>
          </a:p>
        </p:txBody>
      </p:sp>
      <p:pic>
        <p:nvPicPr>
          <p:cNvPr id="2050" name="Picture 2" descr="A practical guide for getting the most out of Principal Component Analysis.  | Towards Data Science">
            <a:extLst>
              <a:ext uri="{FF2B5EF4-FFF2-40B4-BE49-F238E27FC236}">
                <a16:creationId xmlns:a16="http://schemas.microsoft.com/office/drawing/2014/main" id="{E045B74F-F21C-56AC-F025-F23DBF1C7D0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889" b="51164"/>
          <a:stretch/>
        </p:blipFill>
        <p:spPr bwMode="auto">
          <a:xfrm>
            <a:off x="461583" y="39756"/>
            <a:ext cx="11288712" cy="6582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D0694FD-8ECF-0BF6-77A0-4560600AC88F}"/>
              </a:ext>
            </a:extLst>
          </p:cNvPr>
          <p:cNvSpPr/>
          <p:nvPr/>
        </p:nvSpPr>
        <p:spPr>
          <a:xfrm>
            <a:off x="709750" y="1392505"/>
            <a:ext cx="2960913" cy="16772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2641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62FFD-97BC-909A-E921-108BBAC95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PCA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CC7FEF-04FB-F70D-189C-40BEF73FF8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loading value of </a:t>
            </a:r>
            <a:r>
              <a:rPr lang="en-US" dirty="0" err="1"/>
              <a:t>geneA</a:t>
            </a:r>
            <a:r>
              <a:rPr lang="en-US" dirty="0"/>
              <a:t> on PC1 is 1</a:t>
            </a:r>
          </a:p>
          <a:p>
            <a:r>
              <a:rPr lang="en-US" dirty="0"/>
              <a:t>What is the loading value of all other genes on PC1?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DBAEFFB-1E89-0A11-1570-0039BEAF3C1C}"/>
              </a:ext>
            </a:extLst>
          </p:cNvPr>
          <p:cNvSpPr txBox="1">
            <a:spLocks/>
          </p:cNvSpPr>
          <p:nvPr/>
        </p:nvSpPr>
        <p:spPr>
          <a:xfrm>
            <a:off x="10197342" y="-622227"/>
            <a:ext cx="2312915" cy="2312915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31750" cap="sq">
            <a:noFill/>
            <a:miter lim="800000"/>
          </a:ln>
        </p:spPr>
        <p:txBody>
          <a:bodyPr vert="horz" lIns="182880" tIns="182880" rIns="182880" bIns="18288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dirty="0">
                <a:solidFill>
                  <a:srgbClr val="FFFFFF"/>
                </a:solidFill>
              </a:rPr>
              <a:t>Practice</a:t>
            </a:r>
          </a:p>
        </p:txBody>
      </p:sp>
    </p:spTree>
    <p:extLst>
      <p:ext uri="{BB962C8B-B14F-4D97-AF65-F5344CB8AC3E}">
        <p14:creationId xmlns:p14="http://schemas.microsoft.com/office/powerpoint/2010/main" val="24928355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0FB58-3B38-85A3-3554-B655578D7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5CB98-221E-2B0C-A323-087EFD12C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504583" cy="1325563"/>
          </a:xfrm>
        </p:spPr>
        <p:txBody>
          <a:bodyPr>
            <a:normAutofit/>
          </a:bodyPr>
          <a:lstStyle/>
          <a:p>
            <a:r>
              <a:rPr lang="en-US" sz="3200" dirty="0"/>
              <a:t>Consider the following centered gene expression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8616538-1945-0F91-8F70-82A222A69D88}"/>
              </a:ext>
            </a:extLst>
          </p:cNvPr>
          <p:cNvSpPr txBox="1">
            <a:spLocks/>
          </p:cNvSpPr>
          <p:nvPr/>
        </p:nvSpPr>
        <p:spPr>
          <a:xfrm>
            <a:off x="10197342" y="-622227"/>
            <a:ext cx="2312915" cy="2312915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31750" cap="sq">
            <a:noFill/>
            <a:miter lim="800000"/>
          </a:ln>
        </p:spPr>
        <p:txBody>
          <a:bodyPr vert="horz" lIns="182880" tIns="182880" rIns="182880" bIns="18288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dirty="0">
                <a:solidFill>
                  <a:srgbClr val="FFFFFF"/>
                </a:solidFill>
              </a:rPr>
              <a:t>Practice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791E11D-7B38-5C8C-7895-50042D3D9F37}"/>
              </a:ext>
            </a:extLst>
          </p:cNvPr>
          <p:cNvCxnSpPr/>
          <p:nvPr/>
        </p:nvCxnSpPr>
        <p:spPr>
          <a:xfrm>
            <a:off x="3767204" y="2289965"/>
            <a:ext cx="0" cy="3588026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23373B4-37B6-75DD-A4AD-372D3E041EC7}"/>
              </a:ext>
            </a:extLst>
          </p:cNvPr>
          <p:cNvCxnSpPr>
            <a:cxnSpLocks/>
          </p:cNvCxnSpPr>
          <p:nvPr/>
        </p:nvCxnSpPr>
        <p:spPr>
          <a:xfrm flipH="1" flipV="1">
            <a:off x="1096714" y="3972960"/>
            <a:ext cx="5741408" cy="7139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4A2A02E-2544-1197-BBE0-5E396C426818}"/>
              </a:ext>
            </a:extLst>
          </p:cNvPr>
          <p:cNvSpPr txBox="1"/>
          <p:nvPr/>
        </p:nvSpPr>
        <p:spPr>
          <a:xfrm>
            <a:off x="6071839" y="3959744"/>
            <a:ext cx="901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 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9256D7-4535-91F2-0C7F-8575E7C5EC2C}"/>
              </a:ext>
            </a:extLst>
          </p:cNvPr>
          <p:cNvSpPr txBox="1"/>
          <p:nvPr/>
        </p:nvSpPr>
        <p:spPr>
          <a:xfrm rot="16200000">
            <a:off x="3501266" y="2289390"/>
            <a:ext cx="901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 B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C0A2123-99B5-05A3-DA9F-84F8EFE9A468}"/>
              </a:ext>
            </a:extLst>
          </p:cNvPr>
          <p:cNvSpPr/>
          <p:nvPr/>
        </p:nvSpPr>
        <p:spPr>
          <a:xfrm>
            <a:off x="5506167" y="3814447"/>
            <a:ext cx="331303" cy="33130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E0C6C5D-17C8-8A41-B49E-96C5BABBF60C}"/>
              </a:ext>
            </a:extLst>
          </p:cNvPr>
          <p:cNvSpPr/>
          <p:nvPr/>
        </p:nvSpPr>
        <p:spPr>
          <a:xfrm rot="18663285">
            <a:off x="1814695" y="3819426"/>
            <a:ext cx="331303" cy="331303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9738C29-A8DC-C395-C18A-3B88FF6E86A8}"/>
              </a:ext>
            </a:extLst>
          </p:cNvPr>
          <p:cNvSpPr/>
          <p:nvPr/>
        </p:nvSpPr>
        <p:spPr>
          <a:xfrm>
            <a:off x="3608041" y="3233937"/>
            <a:ext cx="331303" cy="33130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D6833EB-79B6-5F6D-7ADE-07628E31520C}"/>
              </a:ext>
            </a:extLst>
          </p:cNvPr>
          <p:cNvSpPr/>
          <p:nvPr/>
        </p:nvSpPr>
        <p:spPr>
          <a:xfrm>
            <a:off x="3601552" y="4312916"/>
            <a:ext cx="331303" cy="33130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AAEB8B5-4756-1156-03CA-DBE80A264873}"/>
              </a:ext>
            </a:extLst>
          </p:cNvPr>
          <p:cNvSpPr/>
          <p:nvPr/>
        </p:nvSpPr>
        <p:spPr>
          <a:xfrm rot="18663285">
            <a:off x="1415333" y="3807308"/>
            <a:ext cx="331303" cy="331303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C6392EC-6545-9ED6-DFF5-1DE35C0EF5F2}"/>
              </a:ext>
            </a:extLst>
          </p:cNvPr>
          <p:cNvSpPr/>
          <p:nvPr/>
        </p:nvSpPr>
        <p:spPr>
          <a:xfrm rot="18663285">
            <a:off x="2191905" y="3819426"/>
            <a:ext cx="331303" cy="331303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9CDCD23-AFBB-6C50-8B56-41D8334330E2}"/>
              </a:ext>
            </a:extLst>
          </p:cNvPr>
          <p:cNvSpPr/>
          <p:nvPr/>
        </p:nvSpPr>
        <p:spPr>
          <a:xfrm>
            <a:off x="5106146" y="3814447"/>
            <a:ext cx="331303" cy="33130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6B7C2FB-2388-0305-5651-613C7BAB76F7}"/>
              </a:ext>
            </a:extLst>
          </p:cNvPr>
          <p:cNvSpPr/>
          <p:nvPr/>
        </p:nvSpPr>
        <p:spPr>
          <a:xfrm>
            <a:off x="5930348" y="3814447"/>
            <a:ext cx="331303" cy="33130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F7DFD15-BF60-E23D-B671-CFA4E967356C}"/>
              </a:ext>
            </a:extLst>
          </p:cNvPr>
          <p:cNvSpPr/>
          <p:nvPr/>
        </p:nvSpPr>
        <p:spPr>
          <a:xfrm>
            <a:off x="3614212" y="2851505"/>
            <a:ext cx="331303" cy="33130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7366A6E-5CFC-3678-A6D1-5C8D15EBE246}"/>
              </a:ext>
            </a:extLst>
          </p:cNvPr>
          <p:cNvSpPr/>
          <p:nvPr/>
        </p:nvSpPr>
        <p:spPr>
          <a:xfrm>
            <a:off x="3601368" y="4682451"/>
            <a:ext cx="331303" cy="33130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DA2739-F347-2BDA-3867-650D717BBC7D}"/>
              </a:ext>
            </a:extLst>
          </p:cNvPr>
          <p:cNvSpPr txBox="1"/>
          <p:nvPr/>
        </p:nvSpPr>
        <p:spPr>
          <a:xfrm>
            <a:off x="7573068" y="2482173"/>
            <a:ext cx="35394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PC1 =	     </a:t>
            </a:r>
            <a:r>
              <a:rPr lang="en-US" dirty="0" err="1"/>
              <a:t>geneA</a:t>
            </a:r>
            <a:r>
              <a:rPr lang="en-US" dirty="0"/>
              <a:t> + 	</a:t>
            </a:r>
            <a:r>
              <a:rPr lang="en-US" dirty="0" err="1"/>
              <a:t>geneB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65D11A-F824-24E3-15A8-5B672438AE65}"/>
              </a:ext>
            </a:extLst>
          </p:cNvPr>
          <p:cNvSpPr txBox="1"/>
          <p:nvPr/>
        </p:nvSpPr>
        <p:spPr>
          <a:xfrm>
            <a:off x="7573068" y="4312916"/>
            <a:ext cx="35394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PC2 =	     </a:t>
            </a:r>
            <a:r>
              <a:rPr lang="en-US" dirty="0" err="1"/>
              <a:t>geneA</a:t>
            </a:r>
            <a:r>
              <a:rPr lang="en-US" dirty="0"/>
              <a:t> + 	</a:t>
            </a:r>
            <a:r>
              <a:rPr lang="en-US" dirty="0" err="1"/>
              <a:t>geneB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27623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BF69B-E6EA-2A43-801A-0AFB317A8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F0B12-4A98-5C4C-9933-412E66E365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effectLst/>
                <a:latin typeface="-apple-system"/>
              </a:rPr>
              <a:t>Learn about and apply t-SNE</a:t>
            </a:r>
          </a:p>
        </p:txBody>
      </p:sp>
    </p:spTree>
    <p:extLst>
      <p:ext uri="{BB962C8B-B14F-4D97-AF65-F5344CB8AC3E}">
        <p14:creationId xmlns:p14="http://schemas.microsoft.com/office/powerpoint/2010/main" val="810943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520D1-D7F1-1A75-A81F-9E30DA44E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7C91A-CCF2-AC2B-5B52-F6F958FBA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Motivating non-linear dimensionality reduction </a:t>
            </a:r>
            <a:r>
              <a:rPr lang="en-US" dirty="0">
                <a:sym typeface="Wingdings" pitchFamily="2" charset="2"/>
              </a:rPr>
              <a:t> linear dimensionality reduction insufficient</a:t>
            </a:r>
            <a:endParaRPr lang="en-US" dirty="0"/>
          </a:p>
        </p:txBody>
      </p:sp>
      <p:pic>
        <p:nvPicPr>
          <p:cNvPr id="4" name="Picture 3" descr="A rainbow colored scribbles&#10;&#10;Description automatically generated">
            <a:extLst>
              <a:ext uri="{FF2B5EF4-FFF2-40B4-BE49-F238E27FC236}">
                <a16:creationId xmlns:a16="http://schemas.microsoft.com/office/drawing/2014/main" id="{692FB893-039E-075A-2D96-1FC1AAADB4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2217" y="1709623"/>
            <a:ext cx="8335372" cy="47832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73F9376-C8DC-69BD-1173-ABE3433B52C9}"/>
              </a:ext>
            </a:extLst>
          </p:cNvPr>
          <p:cNvSpPr txBox="1"/>
          <p:nvPr/>
        </p:nvSpPr>
        <p:spPr>
          <a:xfrm>
            <a:off x="2080079" y="2024744"/>
            <a:ext cx="646331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3200" b="1" dirty="0"/>
              <a:t>3D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B4C70A-3185-0F8D-358F-3A897740DD9F}"/>
              </a:ext>
            </a:extLst>
          </p:cNvPr>
          <p:cNvSpPr txBox="1"/>
          <p:nvPr/>
        </p:nvSpPr>
        <p:spPr>
          <a:xfrm>
            <a:off x="5939239" y="2024743"/>
            <a:ext cx="2432076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3200" b="1" dirty="0"/>
              <a:t>Nonlinear 2D</a:t>
            </a:r>
          </a:p>
        </p:txBody>
      </p:sp>
    </p:spTree>
    <p:extLst>
      <p:ext uri="{BB962C8B-B14F-4D97-AF65-F5344CB8AC3E}">
        <p14:creationId xmlns:p14="http://schemas.microsoft.com/office/powerpoint/2010/main" val="1900307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7BC22-FF02-E8AD-4ACA-338B2C544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T-distributed Stochastic Neighbor Embedding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35645BB-36A8-BC35-4130-51E6846CBB58}"/>
              </a:ext>
            </a:extLst>
          </p:cNvPr>
          <p:cNvCxnSpPr/>
          <p:nvPr/>
        </p:nvCxnSpPr>
        <p:spPr>
          <a:xfrm>
            <a:off x="1037501" y="2081860"/>
            <a:ext cx="0" cy="3796031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7FABEE6-A513-C72E-72EA-562761438FC7}"/>
              </a:ext>
            </a:extLst>
          </p:cNvPr>
          <p:cNvCxnSpPr>
            <a:cxnSpLocks/>
          </p:cNvCxnSpPr>
          <p:nvPr/>
        </p:nvCxnSpPr>
        <p:spPr>
          <a:xfrm flipH="1">
            <a:off x="1037501" y="5877891"/>
            <a:ext cx="3824072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2424A82-A77C-1B5E-339A-C47E0B7D44BB}"/>
              </a:ext>
            </a:extLst>
          </p:cNvPr>
          <p:cNvSpPr txBox="1"/>
          <p:nvPr/>
        </p:nvSpPr>
        <p:spPr>
          <a:xfrm>
            <a:off x="3987170" y="5855651"/>
            <a:ext cx="806244" cy="3264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Gene 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E9748E-F9BC-07D1-9346-4F0FB7A37E86}"/>
              </a:ext>
            </a:extLst>
          </p:cNvPr>
          <p:cNvSpPr txBox="1"/>
          <p:nvPr/>
        </p:nvSpPr>
        <p:spPr>
          <a:xfrm rot="16200000">
            <a:off x="828051" y="2259220"/>
            <a:ext cx="809645" cy="3264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Gene B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643D5D7-460A-5ED0-564E-BEAA8E4D2F04}"/>
              </a:ext>
            </a:extLst>
          </p:cNvPr>
          <p:cNvSpPr/>
          <p:nvPr/>
        </p:nvSpPr>
        <p:spPr>
          <a:xfrm>
            <a:off x="3776882" y="2428032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901272F-BFE2-491E-8B78-643C8F30AB45}"/>
              </a:ext>
            </a:extLst>
          </p:cNvPr>
          <p:cNvSpPr/>
          <p:nvPr/>
        </p:nvSpPr>
        <p:spPr>
          <a:xfrm>
            <a:off x="3783876" y="2869799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4DFBF1A-1E34-382C-0D5D-B724ECE4CBE0}"/>
              </a:ext>
            </a:extLst>
          </p:cNvPr>
          <p:cNvSpPr/>
          <p:nvPr/>
        </p:nvSpPr>
        <p:spPr>
          <a:xfrm>
            <a:off x="3454364" y="3423332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9852A39-A340-99B4-195D-C7A907CC0877}"/>
              </a:ext>
            </a:extLst>
          </p:cNvPr>
          <p:cNvSpPr/>
          <p:nvPr/>
        </p:nvSpPr>
        <p:spPr>
          <a:xfrm>
            <a:off x="4288643" y="2781284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2A829D2-8DB0-1730-1F12-7266D6340605}"/>
              </a:ext>
            </a:extLst>
          </p:cNvPr>
          <p:cNvSpPr/>
          <p:nvPr/>
        </p:nvSpPr>
        <p:spPr>
          <a:xfrm>
            <a:off x="3279110" y="2988259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2976F1C-6F29-BE5C-3929-D7903DD3029F}"/>
              </a:ext>
            </a:extLst>
          </p:cNvPr>
          <p:cNvSpPr/>
          <p:nvPr/>
        </p:nvSpPr>
        <p:spPr>
          <a:xfrm>
            <a:off x="1670234" y="5335731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845DF16-C084-1058-571B-06546294278A}"/>
              </a:ext>
            </a:extLst>
          </p:cNvPr>
          <p:cNvSpPr/>
          <p:nvPr/>
        </p:nvSpPr>
        <p:spPr>
          <a:xfrm>
            <a:off x="1769999" y="4839360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69E3771-B537-712E-95B9-3947B846AA8C}"/>
              </a:ext>
            </a:extLst>
          </p:cNvPr>
          <p:cNvSpPr/>
          <p:nvPr/>
        </p:nvSpPr>
        <p:spPr>
          <a:xfrm>
            <a:off x="2297554" y="4839359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7A24942-A274-3D6D-2C69-B0C06E91D8A5}"/>
              </a:ext>
            </a:extLst>
          </p:cNvPr>
          <p:cNvSpPr/>
          <p:nvPr/>
        </p:nvSpPr>
        <p:spPr>
          <a:xfrm>
            <a:off x="1283661" y="5058152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3E4CB3B-7DEF-C64C-94F5-B8B55D3A119F}"/>
              </a:ext>
            </a:extLst>
          </p:cNvPr>
          <p:cNvSpPr/>
          <p:nvPr/>
        </p:nvSpPr>
        <p:spPr>
          <a:xfrm>
            <a:off x="1844043" y="4342989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EA8C928-81E0-A21E-AF47-64902D234057}"/>
              </a:ext>
            </a:extLst>
          </p:cNvPr>
          <p:cNvSpPr/>
          <p:nvPr/>
        </p:nvSpPr>
        <p:spPr>
          <a:xfrm>
            <a:off x="1844666" y="2690026"/>
            <a:ext cx="350509" cy="350509"/>
          </a:xfrm>
          <a:prstGeom prst="ellipse">
            <a:avLst/>
          </a:prstGeom>
          <a:solidFill>
            <a:srgbClr val="7030A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6A3D56A-790E-5005-9125-3075EEB1AA1E}"/>
              </a:ext>
            </a:extLst>
          </p:cNvPr>
          <p:cNvSpPr/>
          <p:nvPr/>
        </p:nvSpPr>
        <p:spPr>
          <a:xfrm>
            <a:off x="1851660" y="3131793"/>
            <a:ext cx="350509" cy="350509"/>
          </a:xfrm>
          <a:prstGeom prst="ellipse">
            <a:avLst/>
          </a:prstGeom>
          <a:solidFill>
            <a:srgbClr val="7030A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6F8BEFD-34C4-F09E-C49C-3852F250C9F4}"/>
              </a:ext>
            </a:extLst>
          </p:cNvPr>
          <p:cNvSpPr/>
          <p:nvPr/>
        </p:nvSpPr>
        <p:spPr>
          <a:xfrm>
            <a:off x="1491762" y="3024711"/>
            <a:ext cx="350509" cy="350509"/>
          </a:xfrm>
          <a:prstGeom prst="ellipse">
            <a:avLst/>
          </a:prstGeom>
          <a:solidFill>
            <a:srgbClr val="7030A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ABDDDE8-4A40-BF9E-8024-726B18B7E10D}"/>
              </a:ext>
            </a:extLst>
          </p:cNvPr>
          <p:cNvSpPr/>
          <p:nvPr/>
        </p:nvSpPr>
        <p:spPr>
          <a:xfrm rot="19547742">
            <a:off x="3739062" y="4474813"/>
            <a:ext cx="350509" cy="350509"/>
          </a:xfrm>
          <a:prstGeom prst="ellipse">
            <a:avLst/>
          </a:prstGeom>
          <a:solidFill>
            <a:schemeClr val="accent6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9A48203-1DC1-6FBB-4B5C-F5AD3090B6B3}"/>
              </a:ext>
            </a:extLst>
          </p:cNvPr>
          <p:cNvSpPr/>
          <p:nvPr/>
        </p:nvSpPr>
        <p:spPr>
          <a:xfrm rot="19547742">
            <a:off x="3746056" y="4916580"/>
            <a:ext cx="350509" cy="350509"/>
          </a:xfrm>
          <a:prstGeom prst="ellipse">
            <a:avLst/>
          </a:prstGeom>
          <a:solidFill>
            <a:schemeClr val="accent6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20C86F3-C8B1-A134-C7D4-D1CD9D86566F}"/>
              </a:ext>
            </a:extLst>
          </p:cNvPr>
          <p:cNvSpPr/>
          <p:nvPr/>
        </p:nvSpPr>
        <p:spPr>
          <a:xfrm rot="19547742">
            <a:off x="3386158" y="4809498"/>
            <a:ext cx="350509" cy="350509"/>
          </a:xfrm>
          <a:prstGeom prst="ellipse">
            <a:avLst/>
          </a:prstGeom>
          <a:solidFill>
            <a:schemeClr val="accent6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4710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7A3D4-33FD-E14A-E0FD-D858B9AD6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Step 1: compute scaled similarity P in high-dimensional space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E274673-F3F4-9D47-4974-18ECB3C5B71D}"/>
              </a:ext>
            </a:extLst>
          </p:cNvPr>
          <p:cNvCxnSpPr/>
          <p:nvPr/>
        </p:nvCxnSpPr>
        <p:spPr>
          <a:xfrm>
            <a:off x="1037501" y="2081860"/>
            <a:ext cx="0" cy="3796031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54A33A5-ED1F-96AC-2797-8BC4351DAB1E}"/>
              </a:ext>
            </a:extLst>
          </p:cNvPr>
          <p:cNvCxnSpPr>
            <a:cxnSpLocks/>
          </p:cNvCxnSpPr>
          <p:nvPr/>
        </p:nvCxnSpPr>
        <p:spPr>
          <a:xfrm flipH="1">
            <a:off x="1037501" y="5877891"/>
            <a:ext cx="3824072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254F871-D249-822F-EEC2-0BDE9C41D54A}"/>
              </a:ext>
            </a:extLst>
          </p:cNvPr>
          <p:cNvSpPr txBox="1"/>
          <p:nvPr/>
        </p:nvSpPr>
        <p:spPr>
          <a:xfrm>
            <a:off x="3987170" y="5855651"/>
            <a:ext cx="806244" cy="3264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Gene 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8E05AB-4E76-2555-B994-6AECCC8B451C}"/>
              </a:ext>
            </a:extLst>
          </p:cNvPr>
          <p:cNvSpPr txBox="1"/>
          <p:nvPr/>
        </p:nvSpPr>
        <p:spPr>
          <a:xfrm rot="16200000">
            <a:off x="828051" y="2259220"/>
            <a:ext cx="809645" cy="3264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Gene B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C738CF8-0EEA-2456-7F09-42190ED0EBD5}"/>
              </a:ext>
            </a:extLst>
          </p:cNvPr>
          <p:cNvSpPr/>
          <p:nvPr/>
        </p:nvSpPr>
        <p:spPr>
          <a:xfrm>
            <a:off x="3776882" y="2428032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F9618EE-278F-3A93-7F35-B6B06F1CE2A0}"/>
              </a:ext>
            </a:extLst>
          </p:cNvPr>
          <p:cNvSpPr/>
          <p:nvPr/>
        </p:nvSpPr>
        <p:spPr>
          <a:xfrm>
            <a:off x="3783876" y="2869799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43DC554-4D5F-809F-89AF-35CA0ACF5E40}"/>
              </a:ext>
            </a:extLst>
          </p:cNvPr>
          <p:cNvSpPr/>
          <p:nvPr/>
        </p:nvSpPr>
        <p:spPr>
          <a:xfrm>
            <a:off x="3454364" y="3423332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B82C811-DC56-E29C-7E1C-393060BACDAB}"/>
              </a:ext>
            </a:extLst>
          </p:cNvPr>
          <p:cNvSpPr/>
          <p:nvPr/>
        </p:nvSpPr>
        <p:spPr>
          <a:xfrm>
            <a:off x="4288643" y="2781284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8C4FC8A-CADD-B468-335C-A1FF3C543BB1}"/>
              </a:ext>
            </a:extLst>
          </p:cNvPr>
          <p:cNvSpPr/>
          <p:nvPr/>
        </p:nvSpPr>
        <p:spPr>
          <a:xfrm>
            <a:off x="3279110" y="2988259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380F3DB-87FB-100E-2523-B19941FFB820}"/>
              </a:ext>
            </a:extLst>
          </p:cNvPr>
          <p:cNvSpPr/>
          <p:nvPr/>
        </p:nvSpPr>
        <p:spPr>
          <a:xfrm>
            <a:off x="1670234" y="5335731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D302AC2-FCB5-0E77-B435-346A21889EE4}"/>
              </a:ext>
            </a:extLst>
          </p:cNvPr>
          <p:cNvSpPr/>
          <p:nvPr/>
        </p:nvSpPr>
        <p:spPr>
          <a:xfrm>
            <a:off x="1769999" y="4839360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A522291-DC59-9DDB-54CB-482CAEE2116B}"/>
              </a:ext>
            </a:extLst>
          </p:cNvPr>
          <p:cNvSpPr/>
          <p:nvPr/>
        </p:nvSpPr>
        <p:spPr>
          <a:xfrm>
            <a:off x="2297554" y="4839359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96D3CEC-D4CE-3673-1C04-D9914098F69F}"/>
              </a:ext>
            </a:extLst>
          </p:cNvPr>
          <p:cNvSpPr/>
          <p:nvPr/>
        </p:nvSpPr>
        <p:spPr>
          <a:xfrm>
            <a:off x="1283661" y="5058152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F45F6A8-26DD-2AB7-0F0E-69DB2B3AA12A}"/>
              </a:ext>
            </a:extLst>
          </p:cNvPr>
          <p:cNvSpPr/>
          <p:nvPr/>
        </p:nvSpPr>
        <p:spPr>
          <a:xfrm>
            <a:off x="1844043" y="4342989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6DF5741-6BE6-EDAB-8111-C93AE5A9AA41}"/>
              </a:ext>
            </a:extLst>
          </p:cNvPr>
          <p:cNvSpPr/>
          <p:nvPr/>
        </p:nvSpPr>
        <p:spPr>
          <a:xfrm>
            <a:off x="1844666" y="2690026"/>
            <a:ext cx="350509" cy="350509"/>
          </a:xfrm>
          <a:prstGeom prst="ellipse">
            <a:avLst/>
          </a:prstGeom>
          <a:solidFill>
            <a:srgbClr val="7030A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FFE9A55-95F6-2E52-BBF9-4200A7F84D30}"/>
              </a:ext>
            </a:extLst>
          </p:cNvPr>
          <p:cNvSpPr/>
          <p:nvPr/>
        </p:nvSpPr>
        <p:spPr>
          <a:xfrm>
            <a:off x="1851660" y="3131793"/>
            <a:ext cx="350509" cy="350509"/>
          </a:xfrm>
          <a:prstGeom prst="ellipse">
            <a:avLst/>
          </a:prstGeom>
          <a:solidFill>
            <a:srgbClr val="7030A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6CED9D0-BEFC-1D7E-B04B-0D52F91371F8}"/>
              </a:ext>
            </a:extLst>
          </p:cNvPr>
          <p:cNvSpPr/>
          <p:nvPr/>
        </p:nvSpPr>
        <p:spPr>
          <a:xfrm>
            <a:off x="1491762" y="3024711"/>
            <a:ext cx="350509" cy="350509"/>
          </a:xfrm>
          <a:prstGeom prst="ellipse">
            <a:avLst/>
          </a:prstGeom>
          <a:solidFill>
            <a:srgbClr val="7030A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196" name="Picture 4">
            <a:extLst>
              <a:ext uri="{FF2B5EF4-FFF2-40B4-BE49-F238E27FC236}">
                <a16:creationId xmlns:a16="http://schemas.microsoft.com/office/drawing/2014/main" id="{2BDF713E-B7CF-0152-89D5-6375B78195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956"/>
          <a:stretch/>
        </p:blipFill>
        <p:spPr bwMode="auto">
          <a:xfrm>
            <a:off x="6220859" y="1624205"/>
            <a:ext cx="4610100" cy="1166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4E4C50EB-5C4D-A63A-F98B-C881B6593931}"/>
              </a:ext>
            </a:extLst>
          </p:cNvPr>
          <p:cNvSpPr/>
          <p:nvPr/>
        </p:nvSpPr>
        <p:spPr>
          <a:xfrm rot="19547742">
            <a:off x="3739062" y="4474813"/>
            <a:ext cx="350509" cy="350509"/>
          </a:xfrm>
          <a:prstGeom prst="ellipse">
            <a:avLst/>
          </a:prstGeom>
          <a:solidFill>
            <a:schemeClr val="accent6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70CD40C-28A3-BA3D-EF9E-A6C399E62F83}"/>
              </a:ext>
            </a:extLst>
          </p:cNvPr>
          <p:cNvSpPr/>
          <p:nvPr/>
        </p:nvSpPr>
        <p:spPr>
          <a:xfrm rot="19547742">
            <a:off x="3746056" y="4916580"/>
            <a:ext cx="350509" cy="350509"/>
          </a:xfrm>
          <a:prstGeom prst="ellipse">
            <a:avLst/>
          </a:prstGeom>
          <a:solidFill>
            <a:schemeClr val="accent6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4F8178C-B845-D6DC-2563-37464B5F1745}"/>
              </a:ext>
            </a:extLst>
          </p:cNvPr>
          <p:cNvSpPr/>
          <p:nvPr/>
        </p:nvSpPr>
        <p:spPr>
          <a:xfrm rot="19547742">
            <a:off x="3386158" y="4809498"/>
            <a:ext cx="350509" cy="350509"/>
          </a:xfrm>
          <a:prstGeom prst="ellipse">
            <a:avLst/>
          </a:prstGeom>
          <a:solidFill>
            <a:schemeClr val="accent6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9C040D-7504-2F4B-8DC9-3D7C635C85B9}"/>
              </a:ext>
            </a:extLst>
          </p:cNvPr>
          <p:cNvSpPr txBox="1"/>
          <p:nvPr/>
        </p:nvSpPr>
        <p:spPr>
          <a:xfrm>
            <a:off x="9708792" y="1484833"/>
            <a:ext cx="1122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perplexity</a:t>
            </a:r>
          </a:p>
        </p:txBody>
      </p:sp>
    </p:spTree>
    <p:extLst>
      <p:ext uri="{BB962C8B-B14F-4D97-AF65-F5344CB8AC3E}">
        <p14:creationId xmlns:p14="http://schemas.microsoft.com/office/powerpoint/2010/main" val="38856009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5E5AA-82A6-CFE7-52C0-1EF13A6A8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03A59-04C9-11D9-ACF2-8DF088530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Step 2: place cells into low dimensional space and compute another scaled similarity metric Q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B4C6D5-301F-1C25-3A7B-B79B685CD684}"/>
              </a:ext>
            </a:extLst>
          </p:cNvPr>
          <p:cNvSpPr txBox="1"/>
          <p:nvPr/>
        </p:nvSpPr>
        <p:spPr>
          <a:xfrm>
            <a:off x="3567673" y="2879589"/>
            <a:ext cx="1023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tSNE-1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1B815BE-919A-9383-E1D3-69E7CA8C2728}"/>
              </a:ext>
            </a:extLst>
          </p:cNvPr>
          <p:cNvSpPr/>
          <p:nvPr/>
        </p:nvSpPr>
        <p:spPr>
          <a:xfrm>
            <a:off x="838200" y="2581967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532AED0-E4E0-E846-3153-036865839A05}"/>
              </a:ext>
            </a:extLst>
          </p:cNvPr>
          <p:cNvSpPr/>
          <p:nvPr/>
        </p:nvSpPr>
        <p:spPr>
          <a:xfrm>
            <a:off x="4056167" y="2538072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B2DBF08-40C8-9E10-6F41-74BFC0E88013}"/>
              </a:ext>
            </a:extLst>
          </p:cNvPr>
          <p:cNvSpPr/>
          <p:nvPr/>
        </p:nvSpPr>
        <p:spPr>
          <a:xfrm>
            <a:off x="5488236" y="2568283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6320554-B4CC-EC2B-2A7A-A48993215E07}"/>
              </a:ext>
            </a:extLst>
          </p:cNvPr>
          <p:cNvSpPr/>
          <p:nvPr/>
        </p:nvSpPr>
        <p:spPr>
          <a:xfrm>
            <a:off x="6358478" y="2593907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76871B1-A455-F948-38DD-1AEA70AA9D27}"/>
              </a:ext>
            </a:extLst>
          </p:cNvPr>
          <p:cNvSpPr/>
          <p:nvPr/>
        </p:nvSpPr>
        <p:spPr>
          <a:xfrm>
            <a:off x="3468248" y="2517165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E4623BE-2270-EEC2-23EF-33E0C11F12A8}"/>
              </a:ext>
            </a:extLst>
          </p:cNvPr>
          <p:cNvSpPr/>
          <p:nvPr/>
        </p:nvSpPr>
        <p:spPr>
          <a:xfrm>
            <a:off x="1665609" y="2568284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3B3BC57-9426-733F-28B3-7D29AE328018}"/>
              </a:ext>
            </a:extLst>
          </p:cNvPr>
          <p:cNvSpPr/>
          <p:nvPr/>
        </p:nvSpPr>
        <p:spPr>
          <a:xfrm>
            <a:off x="2010087" y="2568284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A3E9C0D-4514-EB58-A860-EA047BA3728B}"/>
              </a:ext>
            </a:extLst>
          </p:cNvPr>
          <p:cNvSpPr/>
          <p:nvPr/>
        </p:nvSpPr>
        <p:spPr>
          <a:xfrm>
            <a:off x="2360596" y="2568284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A3E1C32-B92C-E433-A96F-29593B648C38}"/>
              </a:ext>
            </a:extLst>
          </p:cNvPr>
          <p:cNvSpPr/>
          <p:nvPr/>
        </p:nvSpPr>
        <p:spPr>
          <a:xfrm>
            <a:off x="1279037" y="2593908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0667411-406D-43A6-9793-45BE0AE25F87}"/>
              </a:ext>
            </a:extLst>
          </p:cNvPr>
          <p:cNvSpPr/>
          <p:nvPr/>
        </p:nvSpPr>
        <p:spPr>
          <a:xfrm>
            <a:off x="2826293" y="2568284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2CE7FC8-E2AE-4A85-5263-4FC3C39558CF}"/>
              </a:ext>
            </a:extLst>
          </p:cNvPr>
          <p:cNvSpPr/>
          <p:nvPr/>
        </p:nvSpPr>
        <p:spPr>
          <a:xfrm>
            <a:off x="6877810" y="2565322"/>
            <a:ext cx="350509" cy="350509"/>
          </a:xfrm>
          <a:prstGeom prst="ellipse">
            <a:avLst/>
          </a:prstGeom>
          <a:solidFill>
            <a:srgbClr val="7030A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EE3B75D-D2DA-2295-5083-0DA3FF7AC01A}"/>
              </a:ext>
            </a:extLst>
          </p:cNvPr>
          <p:cNvSpPr/>
          <p:nvPr/>
        </p:nvSpPr>
        <p:spPr>
          <a:xfrm>
            <a:off x="4561855" y="2535110"/>
            <a:ext cx="350509" cy="350509"/>
          </a:xfrm>
          <a:prstGeom prst="ellipse">
            <a:avLst/>
          </a:prstGeom>
          <a:solidFill>
            <a:srgbClr val="7030A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CD71556-5F36-8FB7-BD2E-58264A59CC33}"/>
              </a:ext>
            </a:extLst>
          </p:cNvPr>
          <p:cNvSpPr/>
          <p:nvPr/>
        </p:nvSpPr>
        <p:spPr>
          <a:xfrm>
            <a:off x="5892331" y="2570039"/>
            <a:ext cx="350509" cy="350509"/>
          </a:xfrm>
          <a:prstGeom prst="ellipse">
            <a:avLst/>
          </a:prstGeom>
          <a:solidFill>
            <a:srgbClr val="7030A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5EBAEFB-0DD9-50CD-6828-3C192E5957C7}"/>
              </a:ext>
            </a:extLst>
          </p:cNvPr>
          <p:cNvCxnSpPr>
            <a:cxnSpLocks/>
          </p:cNvCxnSpPr>
          <p:nvPr/>
        </p:nvCxnSpPr>
        <p:spPr>
          <a:xfrm flipH="1">
            <a:off x="1032876" y="2769164"/>
            <a:ext cx="6127574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9218" name="Picture 2">
            <a:extLst>
              <a:ext uri="{FF2B5EF4-FFF2-40B4-BE49-F238E27FC236}">
                <a16:creationId xmlns:a16="http://schemas.microsoft.com/office/drawing/2014/main" id="{DC7591B0-6240-702C-52BA-09F4F0A9DE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5744" y="1632705"/>
            <a:ext cx="4013200" cy="99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7E8D32FA-8D7F-68B1-8479-39362CD0ABB2}"/>
              </a:ext>
            </a:extLst>
          </p:cNvPr>
          <p:cNvSpPr/>
          <p:nvPr/>
        </p:nvSpPr>
        <p:spPr>
          <a:xfrm rot="19547742">
            <a:off x="3129635" y="2565322"/>
            <a:ext cx="350509" cy="350509"/>
          </a:xfrm>
          <a:prstGeom prst="ellipse">
            <a:avLst/>
          </a:prstGeom>
          <a:solidFill>
            <a:schemeClr val="accent6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C28B5F8-BAD5-3C9E-DDF4-C3A989265FD5}"/>
              </a:ext>
            </a:extLst>
          </p:cNvPr>
          <p:cNvSpPr/>
          <p:nvPr/>
        </p:nvSpPr>
        <p:spPr>
          <a:xfrm rot="19547742">
            <a:off x="6586918" y="2585453"/>
            <a:ext cx="350509" cy="350509"/>
          </a:xfrm>
          <a:prstGeom prst="ellipse">
            <a:avLst/>
          </a:prstGeom>
          <a:solidFill>
            <a:schemeClr val="accent6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871E058-6727-46FA-7A11-DE78D9067F44}"/>
              </a:ext>
            </a:extLst>
          </p:cNvPr>
          <p:cNvSpPr/>
          <p:nvPr/>
        </p:nvSpPr>
        <p:spPr>
          <a:xfrm rot="19547742">
            <a:off x="4852746" y="2578235"/>
            <a:ext cx="350509" cy="350509"/>
          </a:xfrm>
          <a:prstGeom prst="ellipse">
            <a:avLst/>
          </a:prstGeom>
          <a:solidFill>
            <a:schemeClr val="accent6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6227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2A073-11D0-11A8-55EF-5BC78019E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Step 3: P is fixed. Iteratively find a Q to minimize the KL divergence between P and Q </a:t>
            </a:r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A093C3A8-2FDE-0B90-8095-D61C39268A8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9950" y="1537210"/>
            <a:ext cx="5372100" cy="1079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65482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Oval 61">
            <a:extLst>
              <a:ext uri="{FF2B5EF4-FFF2-40B4-BE49-F238E27FC236}">
                <a16:creationId xmlns:a16="http://schemas.microsoft.com/office/drawing/2014/main" id="{2AA8FAE1-3681-CB5D-EC1C-EF3B6EB5166D}"/>
              </a:ext>
            </a:extLst>
          </p:cNvPr>
          <p:cNvSpPr/>
          <p:nvPr/>
        </p:nvSpPr>
        <p:spPr>
          <a:xfrm rot="19547742">
            <a:off x="11052715" y="4661834"/>
            <a:ext cx="350509" cy="350509"/>
          </a:xfrm>
          <a:prstGeom prst="ellipse">
            <a:avLst/>
          </a:prstGeom>
          <a:solidFill>
            <a:schemeClr val="accent6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99148CBB-E191-EAF4-DBEB-A90716B18DE6}"/>
              </a:ext>
            </a:extLst>
          </p:cNvPr>
          <p:cNvSpPr/>
          <p:nvPr/>
        </p:nvSpPr>
        <p:spPr>
          <a:xfrm rot="19547742">
            <a:off x="10060191" y="4639436"/>
            <a:ext cx="350509" cy="350509"/>
          </a:xfrm>
          <a:prstGeom prst="ellipse">
            <a:avLst/>
          </a:prstGeom>
          <a:solidFill>
            <a:schemeClr val="accent6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442E72F9-32FC-7217-8D5D-E45E281E7B93}"/>
              </a:ext>
            </a:extLst>
          </p:cNvPr>
          <p:cNvSpPr/>
          <p:nvPr/>
        </p:nvSpPr>
        <p:spPr>
          <a:xfrm rot="19547742">
            <a:off x="6029172" y="4661835"/>
            <a:ext cx="350509" cy="350509"/>
          </a:xfrm>
          <a:prstGeom prst="ellipse">
            <a:avLst/>
          </a:prstGeom>
          <a:solidFill>
            <a:schemeClr val="accent6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B5AEAFB1-D540-96E8-7D7E-4E513BC26854}"/>
              </a:ext>
            </a:extLst>
          </p:cNvPr>
          <p:cNvSpPr/>
          <p:nvPr/>
        </p:nvSpPr>
        <p:spPr>
          <a:xfrm rot="19547742">
            <a:off x="5467915" y="2464469"/>
            <a:ext cx="350509" cy="350509"/>
          </a:xfrm>
          <a:prstGeom prst="ellipse">
            <a:avLst/>
          </a:prstGeom>
          <a:solidFill>
            <a:schemeClr val="accent6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9971D04F-A8CF-9F3C-B128-1B515F7015B7}"/>
              </a:ext>
            </a:extLst>
          </p:cNvPr>
          <p:cNvSpPr/>
          <p:nvPr/>
        </p:nvSpPr>
        <p:spPr>
          <a:xfrm rot="19547742">
            <a:off x="4879975" y="2477499"/>
            <a:ext cx="350509" cy="350509"/>
          </a:xfrm>
          <a:prstGeom prst="ellipse">
            <a:avLst/>
          </a:prstGeom>
          <a:solidFill>
            <a:schemeClr val="accent6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F9BAFF7B-D4E3-DB2F-C667-901D802B19B3}"/>
              </a:ext>
            </a:extLst>
          </p:cNvPr>
          <p:cNvSpPr/>
          <p:nvPr/>
        </p:nvSpPr>
        <p:spPr>
          <a:xfrm rot="19547742">
            <a:off x="5127630" y="2480704"/>
            <a:ext cx="350509" cy="350509"/>
          </a:xfrm>
          <a:prstGeom prst="ellipse">
            <a:avLst/>
          </a:prstGeom>
          <a:solidFill>
            <a:schemeClr val="accent6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EDCC53-9555-C39F-F98B-AB24DC838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Given P, which Q has a smaller KL divergence?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A6D8F80-B3FD-5AAA-5CA8-053729A6D863}"/>
              </a:ext>
            </a:extLst>
          </p:cNvPr>
          <p:cNvGrpSpPr/>
          <p:nvPr/>
        </p:nvGrpSpPr>
        <p:grpSpPr>
          <a:xfrm>
            <a:off x="677390" y="2017641"/>
            <a:ext cx="3824072" cy="4164498"/>
            <a:chOff x="1037501" y="2017641"/>
            <a:chExt cx="3824072" cy="4164498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059E8D42-FC8D-8FF9-BAAC-6503EC662AB7}"/>
                </a:ext>
              </a:extLst>
            </p:cNvPr>
            <p:cNvCxnSpPr/>
            <p:nvPr/>
          </p:nvCxnSpPr>
          <p:spPr>
            <a:xfrm>
              <a:off x="1037501" y="2081860"/>
              <a:ext cx="0" cy="3796031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D61AFAE6-BED8-A194-DA0D-936BED8264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7501" y="5877891"/>
              <a:ext cx="3824072" cy="0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460C2A7-7F7F-D7D9-790A-640AC08BFB63}"/>
                </a:ext>
              </a:extLst>
            </p:cNvPr>
            <p:cNvSpPr txBox="1"/>
            <p:nvPr/>
          </p:nvSpPr>
          <p:spPr>
            <a:xfrm>
              <a:off x="3987170" y="5855651"/>
              <a:ext cx="806244" cy="3264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Gene A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59A1031-4969-8804-680E-63F900606284}"/>
                </a:ext>
              </a:extLst>
            </p:cNvPr>
            <p:cNvSpPr txBox="1"/>
            <p:nvPr/>
          </p:nvSpPr>
          <p:spPr>
            <a:xfrm rot="16200000">
              <a:off x="828051" y="2259220"/>
              <a:ext cx="809645" cy="3264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Gene B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E053961F-8794-AD15-87B7-E8AC0CD2F15D}"/>
                </a:ext>
              </a:extLst>
            </p:cNvPr>
            <p:cNvSpPr/>
            <p:nvPr/>
          </p:nvSpPr>
          <p:spPr>
            <a:xfrm>
              <a:off x="3776882" y="2428032"/>
              <a:ext cx="350509" cy="350509"/>
            </a:xfrm>
            <a:prstGeom prst="ellipse">
              <a:avLst/>
            </a:prstGeom>
            <a:solidFill>
              <a:srgbClr val="FF000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84202C4-C005-9A39-E193-77F644AA32C6}"/>
                </a:ext>
              </a:extLst>
            </p:cNvPr>
            <p:cNvSpPr/>
            <p:nvPr/>
          </p:nvSpPr>
          <p:spPr>
            <a:xfrm>
              <a:off x="3783876" y="2869799"/>
              <a:ext cx="350509" cy="350509"/>
            </a:xfrm>
            <a:prstGeom prst="ellipse">
              <a:avLst/>
            </a:prstGeom>
            <a:solidFill>
              <a:srgbClr val="FF000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4595A1D-B7D9-DD52-12EA-773032D36649}"/>
                </a:ext>
              </a:extLst>
            </p:cNvPr>
            <p:cNvSpPr/>
            <p:nvPr/>
          </p:nvSpPr>
          <p:spPr>
            <a:xfrm>
              <a:off x="3454364" y="3423332"/>
              <a:ext cx="350509" cy="350509"/>
            </a:xfrm>
            <a:prstGeom prst="ellipse">
              <a:avLst/>
            </a:prstGeom>
            <a:solidFill>
              <a:srgbClr val="FF000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35DE9D00-CD0B-6AD7-319E-8756420B71D0}"/>
                </a:ext>
              </a:extLst>
            </p:cNvPr>
            <p:cNvSpPr/>
            <p:nvPr/>
          </p:nvSpPr>
          <p:spPr>
            <a:xfrm>
              <a:off x="4288643" y="2781284"/>
              <a:ext cx="350509" cy="350509"/>
            </a:xfrm>
            <a:prstGeom prst="ellipse">
              <a:avLst/>
            </a:prstGeom>
            <a:solidFill>
              <a:srgbClr val="FF000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0CAC37C-D51C-692B-671C-985FDD3AA82B}"/>
                </a:ext>
              </a:extLst>
            </p:cNvPr>
            <p:cNvSpPr/>
            <p:nvPr/>
          </p:nvSpPr>
          <p:spPr>
            <a:xfrm>
              <a:off x="3279110" y="2988259"/>
              <a:ext cx="350509" cy="350509"/>
            </a:xfrm>
            <a:prstGeom prst="ellipse">
              <a:avLst/>
            </a:prstGeom>
            <a:solidFill>
              <a:srgbClr val="FF000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960D18E-7C21-D89B-348A-A241AA421820}"/>
                </a:ext>
              </a:extLst>
            </p:cNvPr>
            <p:cNvSpPr/>
            <p:nvPr/>
          </p:nvSpPr>
          <p:spPr>
            <a:xfrm>
              <a:off x="1670234" y="5335731"/>
              <a:ext cx="350509" cy="350509"/>
            </a:xfrm>
            <a:prstGeom prst="ellipse">
              <a:avLst/>
            </a:prstGeom>
            <a:solidFill>
              <a:srgbClr val="0070C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231C473-524F-9122-E30D-96053A337996}"/>
                </a:ext>
              </a:extLst>
            </p:cNvPr>
            <p:cNvSpPr/>
            <p:nvPr/>
          </p:nvSpPr>
          <p:spPr>
            <a:xfrm>
              <a:off x="1769999" y="4839360"/>
              <a:ext cx="350509" cy="350509"/>
            </a:xfrm>
            <a:prstGeom prst="ellipse">
              <a:avLst/>
            </a:prstGeom>
            <a:solidFill>
              <a:srgbClr val="0070C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3EBB46E-1E69-C579-6A42-D554A32B53F6}"/>
                </a:ext>
              </a:extLst>
            </p:cNvPr>
            <p:cNvSpPr/>
            <p:nvPr/>
          </p:nvSpPr>
          <p:spPr>
            <a:xfrm>
              <a:off x="2297554" y="4839359"/>
              <a:ext cx="350509" cy="350509"/>
            </a:xfrm>
            <a:prstGeom prst="ellipse">
              <a:avLst/>
            </a:prstGeom>
            <a:solidFill>
              <a:srgbClr val="0070C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6B22EA6-30FA-891E-0191-F2B39D5301B8}"/>
                </a:ext>
              </a:extLst>
            </p:cNvPr>
            <p:cNvSpPr/>
            <p:nvPr/>
          </p:nvSpPr>
          <p:spPr>
            <a:xfrm>
              <a:off x="1283661" y="5058152"/>
              <a:ext cx="350509" cy="350509"/>
            </a:xfrm>
            <a:prstGeom prst="ellipse">
              <a:avLst/>
            </a:prstGeom>
            <a:solidFill>
              <a:srgbClr val="0070C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B801DB3-65CB-3F0E-3419-E748EA41F1AF}"/>
                </a:ext>
              </a:extLst>
            </p:cNvPr>
            <p:cNvSpPr/>
            <p:nvPr/>
          </p:nvSpPr>
          <p:spPr>
            <a:xfrm>
              <a:off x="1844043" y="4342989"/>
              <a:ext cx="350509" cy="350509"/>
            </a:xfrm>
            <a:prstGeom prst="ellipse">
              <a:avLst/>
            </a:prstGeom>
            <a:solidFill>
              <a:srgbClr val="0070C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2A79CF60-D257-E361-82BD-D6EBB3E189B2}"/>
                </a:ext>
              </a:extLst>
            </p:cNvPr>
            <p:cNvSpPr/>
            <p:nvPr/>
          </p:nvSpPr>
          <p:spPr>
            <a:xfrm>
              <a:off x="1844666" y="2690026"/>
              <a:ext cx="350509" cy="350509"/>
            </a:xfrm>
            <a:prstGeom prst="ellipse">
              <a:avLst/>
            </a:prstGeom>
            <a:solidFill>
              <a:srgbClr val="7030A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91EA057-4702-589B-F111-EEE01778E632}"/>
                </a:ext>
              </a:extLst>
            </p:cNvPr>
            <p:cNvSpPr/>
            <p:nvPr/>
          </p:nvSpPr>
          <p:spPr>
            <a:xfrm>
              <a:off x="1851660" y="3131793"/>
              <a:ext cx="350509" cy="350509"/>
            </a:xfrm>
            <a:prstGeom prst="ellipse">
              <a:avLst/>
            </a:prstGeom>
            <a:solidFill>
              <a:srgbClr val="7030A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36E1418-9CC1-FCA8-7C10-88939D2C0E77}"/>
                </a:ext>
              </a:extLst>
            </p:cNvPr>
            <p:cNvSpPr/>
            <p:nvPr/>
          </p:nvSpPr>
          <p:spPr>
            <a:xfrm>
              <a:off x="1491762" y="3024711"/>
              <a:ext cx="350509" cy="350509"/>
            </a:xfrm>
            <a:prstGeom prst="ellipse">
              <a:avLst/>
            </a:prstGeom>
            <a:solidFill>
              <a:srgbClr val="7030A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C7706D38-9103-9014-EE8F-FC80AD1C57BE}"/>
              </a:ext>
            </a:extLst>
          </p:cNvPr>
          <p:cNvSpPr txBox="1"/>
          <p:nvPr/>
        </p:nvSpPr>
        <p:spPr>
          <a:xfrm>
            <a:off x="2522737" y="1712327"/>
            <a:ext cx="3962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P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4823DEE-558A-B4C9-9BA8-D7C5E8A6C6C4}"/>
              </a:ext>
            </a:extLst>
          </p:cNvPr>
          <p:cNvSpPr txBox="1"/>
          <p:nvPr/>
        </p:nvSpPr>
        <p:spPr>
          <a:xfrm>
            <a:off x="5217726" y="1686747"/>
            <a:ext cx="5998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Q</a:t>
            </a:r>
            <a:r>
              <a:rPr lang="en-US" sz="3200" baseline="-250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1ED0546-2EEF-2637-B4FA-FE3D4242EBEA}"/>
              </a:ext>
            </a:extLst>
          </p:cNvPr>
          <p:cNvSpPr txBox="1"/>
          <p:nvPr/>
        </p:nvSpPr>
        <p:spPr>
          <a:xfrm>
            <a:off x="5217726" y="3694387"/>
            <a:ext cx="5998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Q</a:t>
            </a:r>
            <a:r>
              <a:rPr lang="en-US" sz="3200" baseline="-25000" dirty="0"/>
              <a:t>2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52ECF062-05F7-6236-C405-CDB5F175FE0B}"/>
              </a:ext>
            </a:extLst>
          </p:cNvPr>
          <p:cNvSpPr txBox="1">
            <a:spLocks/>
          </p:cNvSpPr>
          <p:nvPr/>
        </p:nvSpPr>
        <p:spPr>
          <a:xfrm>
            <a:off x="10197342" y="-622227"/>
            <a:ext cx="2312915" cy="2312915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31750" cap="sq">
            <a:noFill/>
            <a:miter lim="800000"/>
          </a:ln>
        </p:spPr>
        <p:txBody>
          <a:bodyPr vert="horz" lIns="182880" tIns="182880" rIns="182880" bIns="18288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dirty="0">
                <a:solidFill>
                  <a:srgbClr val="FFFFFF"/>
                </a:solidFill>
              </a:rPr>
              <a:t>Practice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6FF1C1D-49AE-933E-C725-1B9BE1A14F16}"/>
              </a:ext>
            </a:extLst>
          </p:cNvPr>
          <p:cNvSpPr txBox="1"/>
          <p:nvPr/>
        </p:nvSpPr>
        <p:spPr>
          <a:xfrm>
            <a:off x="8257883" y="2788465"/>
            <a:ext cx="1023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tSNE-1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BFDC73F3-B625-DCFC-C5D0-317B99FD6333}"/>
              </a:ext>
            </a:extLst>
          </p:cNvPr>
          <p:cNvSpPr/>
          <p:nvPr/>
        </p:nvSpPr>
        <p:spPr>
          <a:xfrm>
            <a:off x="9952388" y="2422079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0CB6ED9A-824B-DA67-70D5-BC7E7978A797}"/>
              </a:ext>
            </a:extLst>
          </p:cNvPr>
          <p:cNvSpPr/>
          <p:nvPr/>
        </p:nvSpPr>
        <p:spPr>
          <a:xfrm>
            <a:off x="10263201" y="2461605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7B32BA5-9552-1BE3-F8FE-9C58EC0932E1}"/>
              </a:ext>
            </a:extLst>
          </p:cNvPr>
          <p:cNvSpPr/>
          <p:nvPr/>
        </p:nvSpPr>
        <p:spPr>
          <a:xfrm>
            <a:off x="10587358" y="2437121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09682EFF-7CB1-872F-53DE-3285823A5DD5}"/>
              </a:ext>
            </a:extLst>
          </p:cNvPr>
          <p:cNvSpPr/>
          <p:nvPr/>
        </p:nvSpPr>
        <p:spPr>
          <a:xfrm>
            <a:off x="10926949" y="2463022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71EAAF0-ABD5-0437-BDCD-DD370FE00EA2}"/>
              </a:ext>
            </a:extLst>
          </p:cNvPr>
          <p:cNvSpPr/>
          <p:nvPr/>
        </p:nvSpPr>
        <p:spPr>
          <a:xfrm>
            <a:off x="9675282" y="2440698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82ABEF1F-28E7-A47F-1F0D-4B63E1B4380F}"/>
              </a:ext>
            </a:extLst>
          </p:cNvPr>
          <p:cNvSpPr/>
          <p:nvPr/>
        </p:nvSpPr>
        <p:spPr>
          <a:xfrm>
            <a:off x="6355819" y="2477160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6FB75C57-F49C-5C32-E034-A47308D29F8E}"/>
              </a:ext>
            </a:extLst>
          </p:cNvPr>
          <p:cNvSpPr/>
          <p:nvPr/>
        </p:nvSpPr>
        <p:spPr>
          <a:xfrm>
            <a:off x="6700297" y="2477160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382FE256-DA98-2CCB-76BA-D850A86AEE3E}"/>
              </a:ext>
            </a:extLst>
          </p:cNvPr>
          <p:cNvSpPr/>
          <p:nvPr/>
        </p:nvSpPr>
        <p:spPr>
          <a:xfrm>
            <a:off x="7050806" y="2477160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ED5188DC-9DC9-3E49-696D-C1552484535D}"/>
              </a:ext>
            </a:extLst>
          </p:cNvPr>
          <p:cNvSpPr/>
          <p:nvPr/>
        </p:nvSpPr>
        <p:spPr>
          <a:xfrm>
            <a:off x="5969247" y="2502784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21821D82-C531-E609-E90D-ED37A6F2C0BD}"/>
              </a:ext>
            </a:extLst>
          </p:cNvPr>
          <p:cNvSpPr/>
          <p:nvPr/>
        </p:nvSpPr>
        <p:spPr>
          <a:xfrm>
            <a:off x="7516503" y="2477160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4968B4A-647C-CD11-7135-4552AAA982E5}"/>
              </a:ext>
            </a:extLst>
          </p:cNvPr>
          <p:cNvSpPr/>
          <p:nvPr/>
        </p:nvSpPr>
        <p:spPr>
          <a:xfrm>
            <a:off x="9040452" y="2461605"/>
            <a:ext cx="350509" cy="350509"/>
          </a:xfrm>
          <a:prstGeom prst="ellipse">
            <a:avLst/>
          </a:prstGeom>
          <a:solidFill>
            <a:srgbClr val="7030A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1ED59912-D0D7-A895-98C2-E43DEA8423BB}"/>
              </a:ext>
            </a:extLst>
          </p:cNvPr>
          <p:cNvSpPr/>
          <p:nvPr/>
        </p:nvSpPr>
        <p:spPr>
          <a:xfrm>
            <a:off x="8320764" y="2472832"/>
            <a:ext cx="350509" cy="350509"/>
          </a:xfrm>
          <a:prstGeom prst="ellipse">
            <a:avLst/>
          </a:prstGeom>
          <a:solidFill>
            <a:srgbClr val="7030A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79FF520-8128-F205-3F21-3117A023C9FA}"/>
              </a:ext>
            </a:extLst>
          </p:cNvPr>
          <p:cNvSpPr/>
          <p:nvPr/>
        </p:nvSpPr>
        <p:spPr>
          <a:xfrm>
            <a:off x="8700742" y="2463742"/>
            <a:ext cx="350509" cy="350509"/>
          </a:xfrm>
          <a:prstGeom prst="ellipse">
            <a:avLst/>
          </a:prstGeom>
          <a:solidFill>
            <a:srgbClr val="7030A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68A1204-3052-23DD-484D-C327A5E8BCFD}"/>
              </a:ext>
            </a:extLst>
          </p:cNvPr>
          <p:cNvCxnSpPr>
            <a:cxnSpLocks/>
          </p:cNvCxnSpPr>
          <p:nvPr/>
        </p:nvCxnSpPr>
        <p:spPr>
          <a:xfrm flipH="1">
            <a:off x="4627418" y="2649082"/>
            <a:ext cx="7162537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262E76D6-6019-8AB5-3211-22358209A5C1}"/>
              </a:ext>
            </a:extLst>
          </p:cNvPr>
          <p:cNvSpPr txBox="1"/>
          <p:nvPr/>
        </p:nvSpPr>
        <p:spPr>
          <a:xfrm>
            <a:off x="8260668" y="4944137"/>
            <a:ext cx="1023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tSNE-1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62DDFF8-2CA5-A4EF-EA5F-663EE8ACF5AE}"/>
              </a:ext>
            </a:extLst>
          </p:cNvPr>
          <p:cNvSpPr/>
          <p:nvPr/>
        </p:nvSpPr>
        <p:spPr>
          <a:xfrm>
            <a:off x="7976141" y="4632829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FD9A4FCF-AD89-0987-A72A-24328FE91FE6}"/>
              </a:ext>
            </a:extLst>
          </p:cNvPr>
          <p:cNvSpPr/>
          <p:nvPr/>
        </p:nvSpPr>
        <p:spPr>
          <a:xfrm>
            <a:off x="10349115" y="4617277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E5F11861-F001-8D65-45DA-A8B20844F040}"/>
              </a:ext>
            </a:extLst>
          </p:cNvPr>
          <p:cNvSpPr/>
          <p:nvPr/>
        </p:nvSpPr>
        <p:spPr>
          <a:xfrm>
            <a:off x="9004717" y="4593628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CF626928-1342-BE06-08DC-1C8D851B8872}"/>
              </a:ext>
            </a:extLst>
          </p:cNvPr>
          <p:cNvSpPr/>
          <p:nvPr/>
        </p:nvSpPr>
        <p:spPr>
          <a:xfrm>
            <a:off x="10600123" y="4632828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CC304BB0-5C98-326B-BCBF-20BEBDC50FF7}"/>
              </a:ext>
            </a:extLst>
          </p:cNvPr>
          <p:cNvSpPr/>
          <p:nvPr/>
        </p:nvSpPr>
        <p:spPr>
          <a:xfrm>
            <a:off x="6346689" y="4622044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4BE3D15F-70F9-CC46-D787-F5E9BD6D786E}"/>
              </a:ext>
            </a:extLst>
          </p:cNvPr>
          <p:cNvSpPr/>
          <p:nvPr/>
        </p:nvSpPr>
        <p:spPr>
          <a:xfrm>
            <a:off x="9412817" y="4604151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B528107D-13E7-7A96-C354-F2ED1ACC8546}"/>
              </a:ext>
            </a:extLst>
          </p:cNvPr>
          <p:cNvSpPr/>
          <p:nvPr/>
        </p:nvSpPr>
        <p:spPr>
          <a:xfrm>
            <a:off x="6703082" y="4632832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55E8E485-10E3-A776-9673-541DD24323E3}"/>
              </a:ext>
            </a:extLst>
          </p:cNvPr>
          <p:cNvSpPr/>
          <p:nvPr/>
        </p:nvSpPr>
        <p:spPr>
          <a:xfrm>
            <a:off x="8282803" y="4632830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F9BBDE14-79E4-07A3-C969-D9406B675302}"/>
              </a:ext>
            </a:extLst>
          </p:cNvPr>
          <p:cNvSpPr/>
          <p:nvPr/>
        </p:nvSpPr>
        <p:spPr>
          <a:xfrm>
            <a:off x="5694938" y="4658456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9E56AA74-A8A2-B0C1-A7CC-D804199A17E9}"/>
              </a:ext>
            </a:extLst>
          </p:cNvPr>
          <p:cNvSpPr/>
          <p:nvPr/>
        </p:nvSpPr>
        <p:spPr>
          <a:xfrm>
            <a:off x="7519288" y="4632832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7D262806-9CC9-4F32-776B-CB89805CEE64}"/>
              </a:ext>
            </a:extLst>
          </p:cNvPr>
          <p:cNvSpPr/>
          <p:nvPr/>
        </p:nvSpPr>
        <p:spPr>
          <a:xfrm>
            <a:off x="9756594" y="4609971"/>
            <a:ext cx="350509" cy="350509"/>
          </a:xfrm>
          <a:prstGeom prst="ellipse">
            <a:avLst/>
          </a:prstGeom>
          <a:solidFill>
            <a:srgbClr val="7030A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5D6AD8A3-7E19-CBEF-C384-C31075798AB5}"/>
              </a:ext>
            </a:extLst>
          </p:cNvPr>
          <p:cNvSpPr/>
          <p:nvPr/>
        </p:nvSpPr>
        <p:spPr>
          <a:xfrm>
            <a:off x="7027239" y="4632831"/>
            <a:ext cx="350509" cy="350509"/>
          </a:xfrm>
          <a:prstGeom prst="ellipse">
            <a:avLst/>
          </a:prstGeom>
          <a:solidFill>
            <a:srgbClr val="7030A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6C8D24C1-8F42-AF88-767D-F98C9E383712}"/>
              </a:ext>
            </a:extLst>
          </p:cNvPr>
          <p:cNvSpPr/>
          <p:nvPr/>
        </p:nvSpPr>
        <p:spPr>
          <a:xfrm>
            <a:off x="8703527" y="4619414"/>
            <a:ext cx="350509" cy="350509"/>
          </a:xfrm>
          <a:prstGeom prst="ellipse">
            <a:avLst/>
          </a:prstGeom>
          <a:solidFill>
            <a:srgbClr val="7030A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04C633F4-8471-E313-A977-355D7E11FA24}"/>
              </a:ext>
            </a:extLst>
          </p:cNvPr>
          <p:cNvCxnSpPr>
            <a:cxnSpLocks/>
          </p:cNvCxnSpPr>
          <p:nvPr/>
        </p:nvCxnSpPr>
        <p:spPr>
          <a:xfrm flipH="1">
            <a:off x="4811768" y="4830785"/>
            <a:ext cx="6952761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6" name="Oval 55">
            <a:extLst>
              <a:ext uri="{FF2B5EF4-FFF2-40B4-BE49-F238E27FC236}">
                <a16:creationId xmlns:a16="http://schemas.microsoft.com/office/drawing/2014/main" id="{1B29A540-4DC1-72B6-8CD6-AFC15AAD0C00}"/>
              </a:ext>
            </a:extLst>
          </p:cNvPr>
          <p:cNvSpPr/>
          <p:nvPr/>
        </p:nvSpPr>
        <p:spPr>
          <a:xfrm rot="19547742">
            <a:off x="3739062" y="4474813"/>
            <a:ext cx="350509" cy="350509"/>
          </a:xfrm>
          <a:prstGeom prst="ellipse">
            <a:avLst/>
          </a:prstGeom>
          <a:solidFill>
            <a:schemeClr val="accent6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32793A02-DFA4-567F-EA7A-11912C5E2E83}"/>
              </a:ext>
            </a:extLst>
          </p:cNvPr>
          <p:cNvSpPr/>
          <p:nvPr/>
        </p:nvSpPr>
        <p:spPr>
          <a:xfrm rot="19547742">
            <a:off x="3746056" y="4916580"/>
            <a:ext cx="350509" cy="350509"/>
          </a:xfrm>
          <a:prstGeom prst="ellipse">
            <a:avLst/>
          </a:prstGeom>
          <a:solidFill>
            <a:schemeClr val="accent6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4E778820-B0BC-6903-68DC-7F043067091F}"/>
              </a:ext>
            </a:extLst>
          </p:cNvPr>
          <p:cNvSpPr/>
          <p:nvPr/>
        </p:nvSpPr>
        <p:spPr>
          <a:xfrm rot="19547742">
            <a:off x="3386158" y="4809498"/>
            <a:ext cx="350509" cy="350509"/>
          </a:xfrm>
          <a:prstGeom prst="ellipse">
            <a:avLst/>
          </a:prstGeom>
          <a:solidFill>
            <a:schemeClr val="accent6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3449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BBD1D-532B-C2CB-FD17-4AE912C6E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val 45">
            <a:extLst>
              <a:ext uri="{FF2B5EF4-FFF2-40B4-BE49-F238E27FC236}">
                <a16:creationId xmlns:a16="http://schemas.microsoft.com/office/drawing/2014/main" id="{2B05A75F-5431-33AE-A5B3-65D6E3EED764}"/>
              </a:ext>
            </a:extLst>
          </p:cNvPr>
          <p:cNvSpPr/>
          <p:nvPr/>
        </p:nvSpPr>
        <p:spPr>
          <a:xfrm rot="19547742">
            <a:off x="5481990" y="4705998"/>
            <a:ext cx="350509" cy="350509"/>
          </a:xfrm>
          <a:prstGeom prst="ellipse">
            <a:avLst/>
          </a:prstGeom>
          <a:solidFill>
            <a:schemeClr val="accent6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4352EE53-0B7C-1FCD-DFDD-A1BFDEC003AF}"/>
              </a:ext>
            </a:extLst>
          </p:cNvPr>
          <p:cNvSpPr/>
          <p:nvPr/>
        </p:nvSpPr>
        <p:spPr>
          <a:xfrm rot="19547742">
            <a:off x="4894050" y="4719028"/>
            <a:ext cx="350509" cy="350509"/>
          </a:xfrm>
          <a:prstGeom prst="ellipse">
            <a:avLst/>
          </a:prstGeom>
          <a:solidFill>
            <a:schemeClr val="accent6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81701A10-5272-B476-87F4-B88C121428F5}"/>
              </a:ext>
            </a:extLst>
          </p:cNvPr>
          <p:cNvSpPr/>
          <p:nvPr/>
        </p:nvSpPr>
        <p:spPr>
          <a:xfrm rot="19547742">
            <a:off x="5141705" y="4722233"/>
            <a:ext cx="350509" cy="350509"/>
          </a:xfrm>
          <a:prstGeom prst="ellipse">
            <a:avLst/>
          </a:prstGeom>
          <a:solidFill>
            <a:schemeClr val="accent6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9D40A571-A758-31C9-278D-8F4118BCC429}"/>
              </a:ext>
            </a:extLst>
          </p:cNvPr>
          <p:cNvSpPr/>
          <p:nvPr/>
        </p:nvSpPr>
        <p:spPr>
          <a:xfrm rot="19547742">
            <a:off x="5467915" y="2464469"/>
            <a:ext cx="350509" cy="350509"/>
          </a:xfrm>
          <a:prstGeom prst="ellipse">
            <a:avLst/>
          </a:prstGeom>
          <a:solidFill>
            <a:schemeClr val="accent6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B7511726-E68F-A728-11F8-8FF45BE5DEA1}"/>
              </a:ext>
            </a:extLst>
          </p:cNvPr>
          <p:cNvSpPr/>
          <p:nvPr/>
        </p:nvSpPr>
        <p:spPr>
          <a:xfrm rot="19547742">
            <a:off x="4879975" y="2477499"/>
            <a:ext cx="350509" cy="350509"/>
          </a:xfrm>
          <a:prstGeom prst="ellipse">
            <a:avLst/>
          </a:prstGeom>
          <a:solidFill>
            <a:schemeClr val="accent6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6A98BCF7-3A39-FFE7-8A05-8A42497E5954}"/>
              </a:ext>
            </a:extLst>
          </p:cNvPr>
          <p:cNvSpPr/>
          <p:nvPr/>
        </p:nvSpPr>
        <p:spPr>
          <a:xfrm rot="19547742">
            <a:off x="5127630" y="2480704"/>
            <a:ext cx="350509" cy="350509"/>
          </a:xfrm>
          <a:prstGeom prst="ellipse">
            <a:avLst/>
          </a:prstGeom>
          <a:solidFill>
            <a:schemeClr val="accent6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CEEF38-D343-264C-48B4-43D568442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Given P, which Q has a smaller KL divergence?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5F7A293-7542-32F4-6DDB-22E4EA5AB00A}"/>
              </a:ext>
            </a:extLst>
          </p:cNvPr>
          <p:cNvGrpSpPr/>
          <p:nvPr/>
        </p:nvGrpSpPr>
        <p:grpSpPr>
          <a:xfrm>
            <a:off x="677390" y="2017641"/>
            <a:ext cx="3824072" cy="4164498"/>
            <a:chOff x="1037501" y="2017641"/>
            <a:chExt cx="3824072" cy="4164498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EE296691-DD0B-9DCC-4A67-E8739C072FAB}"/>
                </a:ext>
              </a:extLst>
            </p:cNvPr>
            <p:cNvCxnSpPr/>
            <p:nvPr/>
          </p:nvCxnSpPr>
          <p:spPr>
            <a:xfrm>
              <a:off x="1037501" y="2081860"/>
              <a:ext cx="0" cy="3796031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9D27A68B-480E-69AF-5C9B-E99FC9516B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7501" y="5877891"/>
              <a:ext cx="3824072" cy="0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B2ABC25-BBF1-00F6-B336-FAA913ED496E}"/>
                </a:ext>
              </a:extLst>
            </p:cNvPr>
            <p:cNvSpPr txBox="1"/>
            <p:nvPr/>
          </p:nvSpPr>
          <p:spPr>
            <a:xfrm>
              <a:off x="3987170" y="5855651"/>
              <a:ext cx="806244" cy="3264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Gene A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66AEC34-1CEA-726E-EB3D-50D784A5EDFB}"/>
                </a:ext>
              </a:extLst>
            </p:cNvPr>
            <p:cNvSpPr txBox="1"/>
            <p:nvPr/>
          </p:nvSpPr>
          <p:spPr>
            <a:xfrm rot="16200000">
              <a:off x="828051" y="2259220"/>
              <a:ext cx="809645" cy="3264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Gene B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354609C-11CF-52A0-FD28-33BCBBD90DDD}"/>
                </a:ext>
              </a:extLst>
            </p:cNvPr>
            <p:cNvSpPr/>
            <p:nvPr/>
          </p:nvSpPr>
          <p:spPr>
            <a:xfrm>
              <a:off x="3776882" y="2428032"/>
              <a:ext cx="350509" cy="350509"/>
            </a:xfrm>
            <a:prstGeom prst="ellipse">
              <a:avLst/>
            </a:prstGeom>
            <a:solidFill>
              <a:srgbClr val="FF000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654706CC-AAFA-54A5-3134-8D89D13D1293}"/>
                </a:ext>
              </a:extLst>
            </p:cNvPr>
            <p:cNvSpPr/>
            <p:nvPr/>
          </p:nvSpPr>
          <p:spPr>
            <a:xfrm>
              <a:off x="3783876" y="2869799"/>
              <a:ext cx="350509" cy="350509"/>
            </a:xfrm>
            <a:prstGeom prst="ellipse">
              <a:avLst/>
            </a:prstGeom>
            <a:solidFill>
              <a:srgbClr val="FF000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95F1E18-9FF2-5524-97DC-126241F4287E}"/>
                </a:ext>
              </a:extLst>
            </p:cNvPr>
            <p:cNvSpPr/>
            <p:nvPr/>
          </p:nvSpPr>
          <p:spPr>
            <a:xfrm>
              <a:off x="3454364" y="3423332"/>
              <a:ext cx="350509" cy="350509"/>
            </a:xfrm>
            <a:prstGeom prst="ellipse">
              <a:avLst/>
            </a:prstGeom>
            <a:solidFill>
              <a:srgbClr val="FF000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0D26C0D-935E-5D6D-6745-599C697B6372}"/>
                </a:ext>
              </a:extLst>
            </p:cNvPr>
            <p:cNvSpPr/>
            <p:nvPr/>
          </p:nvSpPr>
          <p:spPr>
            <a:xfrm>
              <a:off x="4288643" y="2781284"/>
              <a:ext cx="350509" cy="350509"/>
            </a:xfrm>
            <a:prstGeom prst="ellipse">
              <a:avLst/>
            </a:prstGeom>
            <a:solidFill>
              <a:srgbClr val="FF000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1056309-29F5-3A5A-589A-185BE5096961}"/>
                </a:ext>
              </a:extLst>
            </p:cNvPr>
            <p:cNvSpPr/>
            <p:nvPr/>
          </p:nvSpPr>
          <p:spPr>
            <a:xfrm>
              <a:off x="3279110" y="2988259"/>
              <a:ext cx="350509" cy="350509"/>
            </a:xfrm>
            <a:prstGeom prst="ellipse">
              <a:avLst/>
            </a:prstGeom>
            <a:solidFill>
              <a:srgbClr val="FF000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99FBD8CE-AB80-4F89-10F2-3FE0A1711EE6}"/>
                </a:ext>
              </a:extLst>
            </p:cNvPr>
            <p:cNvSpPr/>
            <p:nvPr/>
          </p:nvSpPr>
          <p:spPr>
            <a:xfrm>
              <a:off x="1670234" y="5335731"/>
              <a:ext cx="350509" cy="350509"/>
            </a:xfrm>
            <a:prstGeom prst="ellipse">
              <a:avLst/>
            </a:prstGeom>
            <a:solidFill>
              <a:srgbClr val="0070C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9B87658-5199-A2B1-653B-83C970B81B09}"/>
                </a:ext>
              </a:extLst>
            </p:cNvPr>
            <p:cNvSpPr/>
            <p:nvPr/>
          </p:nvSpPr>
          <p:spPr>
            <a:xfrm>
              <a:off x="1769999" y="4839360"/>
              <a:ext cx="350509" cy="350509"/>
            </a:xfrm>
            <a:prstGeom prst="ellipse">
              <a:avLst/>
            </a:prstGeom>
            <a:solidFill>
              <a:srgbClr val="0070C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1D2B9FD-B9AE-A9B6-F472-E9FE53694D4F}"/>
                </a:ext>
              </a:extLst>
            </p:cNvPr>
            <p:cNvSpPr/>
            <p:nvPr/>
          </p:nvSpPr>
          <p:spPr>
            <a:xfrm>
              <a:off x="2297554" y="4839359"/>
              <a:ext cx="350509" cy="350509"/>
            </a:xfrm>
            <a:prstGeom prst="ellipse">
              <a:avLst/>
            </a:prstGeom>
            <a:solidFill>
              <a:srgbClr val="0070C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BBEB290-5C57-9BFC-8F95-3D70071F0F82}"/>
                </a:ext>
              </a:extLst>
            </p:cNvPr>
            <p:cNvSpPr/>
            <p:nvPr/>
          </p:nvSpPr>
          <p:spPr>
            <a:xfrm>
              <a:off x="1283661" y="5058152"/>
              <a:ext cx="350509" cy="350509"/>
            </a:xfrm>
            <a:prstGeom prst="ellipse">
              <a:avLst/>
            </a:prstGeom>
            <a:solidFill>
              <a:srgbClr val="0070C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C3C6324D-41D2-4A82-A96C-450C439D078E}"/>
                </a:ext>
              </a:extLst>
            </p:cNvPr>
            <p:cNvSpPr/>
            <p:nvPr/>
          </p:nvSpPr>
          <p:spPr>
            <a:xfrm>
              <a:off x="1844043" y="4342989"/>
              <a:ext cx="350509" cy="350509"/>
            </a:xfrm>
            <a:prstGeom prst="ellipse">
              <a:avLst/>
            </a:prstGeom>
            <a:solidFill>
              <a:srgbClr val="0070C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88C73F4A-A822-96C0-6033-C19577602332}"/>
                </a:ext>
              </a:extLst>
            </p:cNvPr>
            <p:cNvSpPr/>
            <p:nvPr/>
          </p:nvSpPr>
          <p:spPr>
            <a:xfrm>
              <a:off x="1844666" y="2690026"/>
              <a:ext cx="350509" cy="350509"/>
            </a:xfrm>
            <a:prstGeom prst="ellipse">
              <a:avLst/>
            </a:prstGeom>
            <a:solidFill>
              <a:srgbClr val="7030A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B6A7D9E6-0145-B15E-3AB2-947851B3386B}"/>
                </a:ext>
              </a:extLst>
            </p:cNvPr>
            <p:cNvSpPr/>
            <p:nvPr/>
          </p:nvSpPr>
          <p:spPr>
            <a:xfrm>
              <a:off x="1851660" y="3131793"/>
              <a:ext cx="350509" cy="350509"/>
            </a:xfrm>
            <a:prstGeom prst="ellipse">
              <a:avLst/>
            </a:prstGeom>
            <a:solidFill>
              <a:srgbClr val="7030A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252D486C-5148-CE82-1EF7-7847A40A6167}"/>
                </a:ext>
              </a:extLst>
            </p:cNvPr>
            <p:cNvSpPr/>
            <p:nvPr/>
          </p:nvSpPr>
          <p:spPr>
            <a:xfrm>
              <a:off x="1491762" y="3024711"/>
              <a:ext cx="350509" cy="350509"/>
            </a:xfrm>
            <a:prstGeom prst="ellipse">
              <a:avLst/>
            </a:prstGeom>
            <a:solidFill>
              <a:srgbClr val="7030A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2792FD38-249F-F318-6E76-9EC36A7CC032}"/>
              </a:ext>
            </a:extLst>
          </p:cNvPr>
          <p:cNvSpPr txBox="1"/>
          <p:nvPr/>
        </p:nvSpPr>
        <p:spPr>
          <a:xfrm>
            <a:off x="2522737" y="1712327"/>
            <a:ext cx="3962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P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D3B3F61-B304-A57B-0D4E-A7C8ACBB622B}"/>
              </a:ext>
            </a:extLst>
          </p:cNvPr>
          <p:cNvSpPr txBox="1"/>
          <p:nvPr/>
        </p:nvSpPr>
        <p:spPr>
          <a:xfrm>
            <a:off x="5217726" y="1686747"/>
            <a:ext cx="5998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Q</a:t>
            </a:r>
            <a:r>
              <a:rPr lang="en-US" sz="3200" baseline="-250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E0D4393-8993-0843-4D97-BD475C7EF76D}"/>
              </a:ext>
            </a:extLst>
          </p:cNvPr>
          <p:cNvSpPr txBox="1"/>
          <p:nvPr/>
        </p:nvSpPr>
        <p:spPr>
          <a:xfrm>
            <a:off x="5217726" y="3694387"/>
            <a:ext cx="5998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Q</a:t>
            </a:r>
            <a:r>
              <a:rPr lang="en-US" sz="3200" baseline="-25000" dirty="0"/>
              <a:t>2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131B911D-D583-8798-0A1E-41A5C87FD12B}"/>
              </a:ext>
            </a:extLst>
          </p:cNvPr>
          <p:cNvSpPr txBox="1">
            <a:spLocks/>
          </p:cNvSpPr>
          <p:nvPr/>
        </p:nvSpPr>
        <p:spPr>
          <a:xfrm>
            <a:off x="10197342" y="-622227"/>
            <a:ext cx="2312915" cy="2312915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31750" cap="sq">
            <a:noFill/>
            <a:miter lim="800000"/>
          </a:ln>
        </p:spPr>
        <p:txBody>
          <a:bodyPr vert="horz" lIns="182880" tIns="182880" rIns="182880" bIns="18288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dirty="0">
                <a:solidFill>
                  <a:srgbClr val="FFFFFF"/>
                </a:solidFill>
              </a:rPr>
              <a:t>Practice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574390F-06FD-1854-6A88-760419DC92E9}"/>
              </a:ext>
            </a:extLst>
          </p:cNvPr>
          <p:cNvSpPr txBox="1"/>
          <p:nvPr/>
        </p:nvSpPr>
        <p:spPr>
          <a:xfrm>
            <a:off x="8257883" y="2788465"/>
            <a:ext cx="1023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tSNE-1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EE53E5B-E32A-F179-1AF4-1A6032E12F47}"/>
              </a:ext>
            </a:extLst>
          </p:cNvPr>
          <p:cNvSpPr/>
          <p:nvPr/>
        </p:nvSpPr>
        <p:spPr>
          <a:xfrm>
            <a:off x="9952388" y="2422079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D8E5EBC-325C-E323-25F3-F9B4C4E67E13}"/>
              </a:ext>
            </a:extLst>
          </p:cNvPr>
          <p:cNvSpPr/>
          <p:nvPr/>
        </p:nvSpPr>
        <p:spPr>
          <a:xfrm>
            <a:off x="10263201" y="2461605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1F07721-69DB-0CDD-99D0-CD079A66DD95}"/>
              </a:ext>
            </a:extLst>
          </p:cNvPr>
          <p:cNvSpPr/>
          <p:nvPr/>
        </p:nvSpPr>
        <p:spPr>
          <a:xfrm>
            <a:off x="10587358" y="2437121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2785FF10-6A15-1970-4A99-94DA5A39A3DD}"/>
              </a:ext>
            </a:extLst>
          </p:cNvPr>
          <p:cNvSpPr/>
          <p:nvPr/>
        </p:nvSpPr>
        <p:spPr>
          <a:xfrm>
            <a:off x="10926949" y="2463022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BA8B1A8-D799-429D-8F32-25FC23396C2E}"/>
              </a:ext>
            </a:extLst>
          </p:cNvPr>
          <p:cNvSpPr/>
          <p:nvPr/>
        </p:nvSpPr>
        <p:spPr>
          <a:xfrm>
            <a:off x="9675282" y="2440698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9BE1E53-A3E2-DF03-F14D-7CFFE966802F}"/>
              </a:ext>
            </a:extLst>
          </p:cNvPr>
          <p:cNvSpPr/>
          <p:nvPr/>
        </p:nvSpPr>
        <p:spPr>
          <a:xfrm>
            <a:off x="7810845" y="2477160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A86240C-28DC-7AF1-72EB-836011399745}"/>
              </a:ext>
            </a:extLst>
          </p:cNvPr>
          <p:cNvSpPr/>
          <p:nvPr/>
        </p:nvSpPr>
        <p:spPr>
          <a:xfrm>
            <a:off x="8155323" y="2477160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00F8121E-2283-55C3-889C-7FC56959ECF1}"/>
              </a:ext>
            </a:extLst>
          </p:cNvPr>
          <p:cNvSpPr/>
          <p:nvPr/>
        </p:nvSpPr>
        <p:spPr>
          <a:xfrm>
            <a:off x="8505832" y="2477160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CB077C83-75AD-EFCE-6BAD-5F37CE1BE181}"/>
              </a:ext>
            </a:extLst>
          </p:cNvPr>
          <p:cNvSpPr/>
          <p:nvPr/>
        </p:nvSpPr>
        <p:spPr>
          <a:xfrm>
            <a:off x="7424273" y="2502784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A766FC81-18CC-DD2F-E8E6-86FBEAEAB844}"/>
              </a:ext>
            </a:extLst>
          </p:cNvPr>
          <p:cNvSpPr/>
          <p:nvPr/>
        </p:nvSpPr>
        <p:spPr>
          <a:xfrm>
            <a:off x="8971529" y="2477160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F9D93791-E3B9-731D-36C9-977359FEC130}"/>
              </a:ext>
            </a:extLst>
          </p:cNvPr>
          <p:cNvSpPr/>
          <p:nvPr/>
        </p:nvSpPr>
        <p:spPr>
          <a:xfrm>
            <a:off x="6593838" y="2517153"/>
            <a:ext cx="350509" cy="350509"/>
          </a:xfrm>
          <a:prstGeom prst="ellipse">
            <a:avLst/>
          </a:prstGeom>
          <a:solidFill>
            <a:srgbClr val="7030A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C412BE3-2D8E-C71D-E05A-0AD753092E6F}"/>
              </a:ext>
            </a:extLst>
          </p:cNvPr>
          <p:cNvSpPr/>
          <p:nvPr/>
        </p:nvSpPr>
        <p:spPr>
          <a:xfrm>
            <a:off x="5874150" y="2528380"/>
            <a:ext cx="350509" cy="350509"/>
          </a:xfrm>
          <a:prstGeom prst="ellipse">
            <a:avLst/>
          </a:prstGeom>
          <a:solidFill>
            <a:srgbClr val="7030A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E2534F4-1A96-271F-33DF-A1E72AEE3D1C}"/>
              </a:ext>
            </a:extLst>
          </p:cNvPr>
          <p:cNvSpPr/>
          <p:nvPr/>
        </p:nvSpPr>
        <p:spPr>
          <a:xfrm>
            <a:off x="6254128" y="2519290"/>
            <a:ext cx="350509" cy="350509"/>
          </a:xfrm>
          <a:prstGeom prst="ellipse">
            <a:avLst/>
          </a:prstGeom>
          <a:solidFill>
            <a:srgbClr val="7030A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A1E4E3D-980C-7206-1825-5CB8B60EAD94}"/>
              </a:ext>
            </a:extLst>
          </p:cNvPr>
          <p:cNvCxnSpPr>
            <a:cxnSpLocks/>
          </p:cNvCxnSpPr>
          <p:nvPr/>
        </p:nvCxnSpPr>
        <p:spPr>
          <a:xfrm flipH="1">
            <a:off x="4641273" y="2676984"/>
            <a:ext cx="7148682" cy="13042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DEAEA64-1EC0-0FB5-35A1-3A34B2A676F1}"/>
              </a:ext>
            </a:extLst>
          </p:cNvPr>
          <p:cNvSpPr txBox="1"/>
          <p:nvPr/>
        </p:nvSpPr>
        <p:spPr>
          <a:xfrm>
            <a:off x="8257883" y="5059884"/>
            <a:ext cx="1023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tSNE-1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6C686CEB-EA82-EF56-6CBB-087D76DEE85B}"/>
              </a:ext>
            </a:extLst>
          </p:cNvPr>
          <p:cNvSpPr/>
          <p:nvPr/>
        </p:nvSpPr>
        <p:spPr>
          <a:xfrm>
            <a:off x="8627318" y="4693498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095D4358-EF32-8D74-B316-2AD0FE126D7A}"/>
              </a:ext>
            </a:extLst>
          </p:cNvPr>
          <p:cNvSpPr/>
          <p:nvPr/>
        </p:nvSpPr>
        <p:spPr>
          <a:xfrm>
            <a:off x="8938131" y="4733024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8FD35140-71B2-E0E9-5F5E-9F599FE86707}"/>
              </a:ext>
            </a:extLst>
          </p:cNvPr>
          <p:cNvSpPr/>
          <p:nvPr/>
        </p:nvSpPr>
        <p:spPr>
          <a:xfrm>
            <a:off x="9262288" y="4708540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B4CFF70E-9E80-6927-DB38-6173A7824E14}"/>
              </a:ext>
            </a:extLst>
          </p:cNvPr>
          <p:cNvSpPr/>
          <p:nvPr/>
        </p:nvSpPr>
        <p:spPr>
          <a:xfrm>
            <a:off x="9601879" y="4734441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88C63C1F-2681-C692-3312-5A9BFBAC7E19}"/>
              </a:ext>
            </a:extLst>
          </p:cNvPr>
          <p:cNvSpPr/>
          <p:nvPr/>
        </p:nvSpPr>
        <p:spPr>
          <a:xfrm>
            <a:off x="8350212" y="4712117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C02A4FA3-AEF2-2EF5-D141-A8B6B92ABBF8}"/>
              </a:ext>
            </a:extLst>
          </p:cNvPr>
          <p:cNvSpPr/>
          <p:nvPr/>
        </p:nvSpPr>
        <p:spPr>
          <a:xfrm>
            <a:off x="6355819" y="4748579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954CCC92-AD86-C61B-643B-2221B406ADCF}"/>
              </a:ext>
            </a:extLst>
          </p:cNvPr>
          <p:cNvSpPr/>
          <p:nvPr/>
        </p:nvSpPr>
        <p:spPr>
          <a:xfrm>
            <a:off x="6700297" y="4748579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4244D360-9137-C71F-938E-EF9EEA7DF59D}"/>
              </a:ext>
            </a:extLst>
          </p:cNvPr>
          <p:cNvSpPr/>
          <p:nvPr/>
        </p:nvSpPr>
        <p:spPr>
          <a:xfrm>
            <a:off x="7050806" y="4748579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AECD382F-B0B9-14C0-8F43-E5B051A10EB9}"/>
              </a:ext>
            </a:extLst>
          </p:cNvPr>
          <p:cNvSpPr/>
          <p:nvPr/>
        </p:nvSpPr>
        <p:spPr>
          <a:xfrm>
            <a:off x="5969247" y="4774203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6E8E9347-9DFD-A490-04E5-A6CF91582201}"/>
              </a:ext>
            </a:extLst>
          </p:cNvPr>
          <p:cNvSpPr/>
          <p:nvPr/>
        </p:nvSpPr>
        <p:spPr>
          <a:xfrm>
            <a:off x="7516503" y="4748579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B52B67DE-2B37-034C-095F-3E2E75C85AEA}"/>
              </a:ext>
            </a:extLst>
          </p:cNvPr>
          <p:cNvSpPr/>
          <p:nvPr/>
        </p:nvSpPr>
        <p:spPr>
          <a:xfrm>
            <a:off x="11164101" y="4733024"/>
            <a:ext cx="350509" cy="350509"/>
          </a:xfrm>
          <a:prstGeom prst="ellipse">
            <a:avLst/>
          </a:prstGeom>
          <a:solidFill>
            <a:srgbClr val="7030A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7C8FED79-7BBE-C8E0-F181-52140F29CE3C}"/>
              </a:ext>
            </a:extLst>
          </p:cNvPr>
          <p:cNvSpPr/>
          <p:nvPr/>
        </p:nvSpPr>
        <p:spPr>
          <a:xfrm>
            <a:off x="10444413" y="4744251"/>
            <a:ext cx="350509" cy="350509"/>
          </a:xfrm>
          <a:prstGeom prst="ellipse">
            <a:avLst/>
          </a:prstGeom>
          <a:solidFill>
            <a:srgbClr val="7030A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369F0E9F-86B8-FE00-5119-504AF959BE2F}"/>
              </a:ext>
            </a:extLst>
          </p:cNvPr>
          <p:cNvSpPr/>
          <p:nvPr/>
        </p:nvSpPr>
        <p:spPr>
          <a:xfrm>
            <a:off x="10824391" y="4735161"/>
            <a:ext cx="350509" cy="350509"/>
          </a:xfrm>
          <a:prstGeom prst="ellipse">
            <a:avLst/>
          </a:prstGeom>
          <a:solidFill>
            <a:srgbClr val="7030A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7DDECFB5-4E44-B649-5A63-A1786279F509}"/>
              </a:ext>
            </a:extLst>
          </p:cNvPr>
          <p:cNvCxnSpPr>
            <a:cxnSpLocks/>
          </p:cNvCxnSpPr>
          <p:nvPr/>
        </p:nvCxnSpPr>
        <p:spPr>
          <a:xfrm flipH="1">
            <a:off x="4811768" y="4893951"/>
            <a:ext cx="6969484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C54A8C50-297A-3ADA-EEC2-BAD40F343907}"/>
              </a:ext>
            </a:extLst>
          </p:cNvPr>
          <p:cNvSpPr/>
          <p:nvPr/>
        </p:nvSpPr>
        <p:spPr>
          <a:xfrm rot="19547742">
            <a:off x="3739062" y="4474813"/>
            <a:ext cx="350509" cy="350509"/>
          </a:xfrm>
          <a:prstGeom prst="ellipse">
            <a:avLst/>
          </a:prstGeom>
          <a:solidFill>
            <a:schemeClr val="accent6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4589DB99-8339-6824-D565-D2DF2D8DBCA7}"/>
              </a:ext>
            </a:extLst>
          </p:cNvPr>
          <p:cNvSpPr/>
          <p:nvPr/>
        </p:nvSpPr>
        <p:spPr>
          <a:xfrm rot="19547742">
            <a:off x="3746056" y="4916580"/>
            <a:ext cx="350509" cy="350509"/>
          </a:xfrm>
          <a:prstGeom prst="ellipse">
            <a:avLst/>
          </a:prstGeom>
          <a:solidFill>
            <a:schemeClr val="accent6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0FA3ECE8-3995-B633-C2C6-671193A0B363}"/>
              </a:ext>
            </a:extLst>
          </p:cNvPr>
          <p:cNvSpPr/>
          <p:nvPr/>
        </p:nvSpPr>
        <p:spPr>
          <a:xfrm rot="19547742">
            <a:off x="3386158" y="4809498"/>
            <a:ext cx="350509" cy="350509"/>
          </a:xfrm>
          <a:prstGeom prst="ellipse">
            <a:avLst/>
          </a:prstGeom>
          <a:solidFill>
            <a:schemeClr val="accent6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317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595FB-D9FF-4D24-BF68-4103A5FC4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err="1"/>
              <a:t>tSNE</a:t>
            </a:r>
            <a:r>
              <a:rPr lang="en-US" sz="3200" dirty="0"/>
              <a:t> in practice is often combined with PCA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3103A6-502F-BBFB-ECAD-6CBCA3FF606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Gene expression -&gt; </a:t>
            </a:r>
            <a:r>
              <a:rPr lang="en-US" dirty="0" err="1"/>
              <a:t>tSNE</a:t>
            </a:r>
            <a:r>
              <a:rPr lang="en-US" dirty="0"/>
              <a:t> -&gt; PCA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8ABD16E-CFD3-C92C-B3B5-61060CD37E5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Gene expression -&gt; PCA -&gt; </a:t>
            </a:r>
            <a:r>
              <a:rPr lang="en-US" dirty="0" err="1"/>
              <a:t>tSNE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C8929E5-7171-BDC7-9A69-895F39B65A2D}"/>
              </a:ext>
            </a:extLst>
          </p:cNvPr>
          <p:cNvSpPr txBox="1">
            <a:spLocks/>
          </p:cNvSpPr>
          <p:nvPr/>
        </p:nvSpPr>
        <p:spPr>
          <a:xfrm>
            <a:off x="10197342" y="-622227"/>
            <a:ext cx="2312915" cy="2312915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31750" cap="sq">
            <a:noFill/>
            <a:miter lim="800000"/>
          </a:ln>
        </p:spPr>
        <p:txBody>
          <a:bodyPr vert="horz" lIns="182880" tIns="182880" rIns="182880" bIns="18288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dirty="0">
                <a:solidFill>
                  <a:srgbClr val="FFFFFF"/>
                </a:solidFill>
              </a:rPr>
              <a:t>Practice</a:t>
            </a:r>
          </a:p>
        </p:txBody>
      </p:sp>
    </p:spTree>
    <p:extLst>
      <p:ext uri="{BB962C8B-B14F-4D97-AF65-F5344CB8AC3E}">
        <p14:creationId xmlns:p14="http://schemas.microsoft.com/office/powerpoint/2010/main" val="9019337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1ED6D-AC59-5AD2-BAA6-8EED8EBA6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23DB6-6876-3C78-3E07-3061BA317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Hands-on Component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A7DC8-922C-9262-C337-F1362A47DB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1" dirty="0"/>
              <a:t>Please install these R packages</a:t>
            </a:r>
          </a:p>
          <a:p>
            <a:pPr marL="0" indent="0" algn="ctr">
              <a:buNone/>
            </a:pPr>
            <a:endParaRPr lang="en-US" b="1" dirty="0"/>
          </a:p>
          <a:p>
            <a:pPr marL="0" indent="0" algn="ctr">
              <a:buNone/>
            </a:pPr>
            <a:r>
              <a:rPr lang="en-US" b="1" dirty="0" err="1"/>
              <a:t>install.packages</a:t>
            </a:r>
            <a:r>
              <a:rPr lang="en-US" b="1" dirty="0"/>
              <a:t>(‘</a:t>
            </a:r>
            <a:r>
              <a:rPr lang="en-US" b="1" dirty="0" err="1"/>
              <a:t>Rtsne</a:t>
            </a:r>
            <a:r>
              <a:rPr lang="en-US" b="1" dirty="0"/>
              <a:t>’)</a:t>
            </a:r>
          </a:p>
          <a:p>
            <a:pPr marL="0" indent="0" algn="ctr">
              <a:buNone/>
            </a:pPr>
            <a:r>
              <a:rPr lang="en-US" b="1" dirty="0" err="1"/>
              <a:t>install.packages</a:t>
            </a:r>
            <a:r>
              <a:rPr lang="en-US" b="1" dirty="0"/>
              <a:t>(‘patchwork’)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D64749-F539-C3A6-EB36-4D5E9991CCD0}"/>
              </a:ext>
            </a:extLst>
          </p:cNvPr>
          <p:cNvSpPr txBox="1"/>
          <p:nvPr/>
        </p:nvSpPr>
        <p:spPr>
          <a:xfrm>
            <a:off x="468923" y="4419600"/>
            <a:ext cx="1125415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-apple-system"/>
              </a:rPr>
              <a:t>HW2</a:t>
            </a:r>
          </a:p>
          <a:p>
            <a:pPr>
              <a:buFont typeface="+mj-lt"/>
              <a:buAutoNum type="arabicPeriod"/>
            </a:pPr>
            <a:r>
              <a:rPr lang="en-US" dirty="0">
                <a:latin typeface="-apple-system"/>
              </a:rPr>
              <a:t>How do the gene loadings on the first PC relate to features of the genes such as its mean or variance? </a:t>
            </a:r>
          </a:p>
          <a:p>
            <a:pPr>
              <a:buFont typeface="+mj-lt"/>
              <a:buAutoNum type="arabicPeriod"/>
            </a:pPr>
            <a:r>
              <a:rPr lang="en-US" dirty="0">
                <a:latin typeface="-apple-system"/>
              </a:rPr>
              <a:t>How do the genes with high versus low loadings relate to each other? How are they patterned relative to each other in the tissue?</a:t>
            </a:r>
          </a:p>
          <a:p>
            <a:pPr>
              <a:buFont typeface="+mj-lt"/>
              <a:buAutoNum type="arabicPeriod"/>
            </a:pPr>
            <a:r>
              <a:rPr lang="en-US" dirty="0">
                <a:latin typeface="-apple-system"/>
              </a:rPr>
              <a:t>How do </a:t>
            </a:r>
            <a:r>
              <a:rPr lang="en-US" dirty="0" err="1">
                <a:latin typeface="-apple-system"/>
              </a:rPr>
              <a:t>tSNE</a:t>
            </a:r>
            <a:r>
              <a:rPr lang="en-US" dirty="0">
                <a:latin typeface="-apple-system"/>
              </a:rPr>
              <a:t> coordinates change as you increase or decrease the number of PCs? </a:t>
            </a:r>
          </a:p>
          <a:p>
            <a:pPr>
              <a:buFont typeface="+mj-lt"/>
              <a:buAutoNum type="arabicPeriod"/>
            </a:pPr>
            <a:r>
              <a:rPr lang="en-US" dirty="0">
                <a:latin typeface="-apple-system"/>
              </a:rPr>
              <a:t>How do </a:t>
            </a:r>
            <a:r>
              <a:rPr lang="en-US" dirty="0" err="1">
                <a:latin typeface="-apple-system"/>
              </a:rPr>
              <a:t>tSNE</a:t>
            </a:r>
            <a:r>
              <a:rPr lang="en-US" dirty="0">
                <a:latin typeface="-apple-system"/>
              </a:rPr>
              <a:t> coordinates change as you increase or decrease the perplexity?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66310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3694</TotalTime>
  <Words>331</Words>
  <Application>Microsoft Macintosh PowerPoint</Application>
  <PresentationFormat>Widescreen</PresentationFormat>
  <Paragraphs>67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-apple-system</vt:lpstr>
      <vt:lpstr>Aptos</vt:lpstr>
      <vt:lpstr>Arial</vt:lpstr>
      <vt:lpstr>Calibri</vt:lpstr>
      <vt:lpstr>Calibri Light</vt:lpstr>
      <vt:lpstr>docs-Roboto</vt:lpstr>
      <vt:lpstr>Wingdings</vt:lpstr>
      <vt:lpstr>Office Theme</vt:lpstr>
      <vt:lpstr>EN.580.428  Genomic Data Visualization Lesson 4  Non-linear Dimensionality Reduction:  T-distributed Stochastic Neighbor Embedding</vt:lpstr>
      <vt:lpstr>Remotivating Dimensionality Reduction</vt:lpstr>
      <vt:lpstr>PCA review</vt:lpstr>
      <vt:lpstr>PCA review</vt:lpstr>
      <vt:lpstr>PCA review</vt:lpstr>
      <vt:lpstr>PCA review</vt:lpstr>
      <vt:lpstr>PCA review</vt:lpstr>
      <vt:lpstr>Consider the following centered gene expression</vt:lpstr>
      <vt:lpstr>Lesson learning objectives</vt:lpstr>
      <vt:lpstr>Motivating non-linear dimensionality reduction  linear dimensionality reduction insufficient</vt:lpstr>
      <vt:lpstr>T-distributed Stochastic Neighbor Embedding</vt:lpstr>
      <vt:lpstr>Step 1: compute scaled similarity P in high-dimensional space</vt:lpstr>
      <vt:lpstr>Step 2: place cells into low dimensional space and compute another scaled similarity metric Q</vt:lpstr>
      <vt:lpstr>Step 3: P is fixed. Iteratively find a Q to minimize the KL divergence between P and Q </vt:lpstr>
      <vt:lpstr>Given P, which Q has a smaller KL divergence?</vt:lpstr>
      <vt:lpstr>Given P, which Q has a smaller KL divergence?</vt:lpstr>
      <vt:lpstr>tSNE in practice is often combined with PCA</vt:lpstr>
      <vt:lpstr>Hands-on Component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EN.580.428  Genomic Data Visualization Lesson 4  Non-linear Dimensionality Reduction:  T-Stochastic Neighbor Embedding</dc:title>
  <dc:creator>Jean Fan</dc:creator>
  <cp:lastModifiedBy>Jean Fan</cp:lastModifiedBy>
  <cp:revision>19</cp:revision>
  <dcterms:created xsi:type="dcterms:W3CDTF">2024-01-31T15:18:33Z</dcterms:created>
  <dcterms:modified xsi:type="dcterms:W3CDTF">2026-01-30T00:29:41Z</dcterms:modified>
</cp:coreProperties>
</file>